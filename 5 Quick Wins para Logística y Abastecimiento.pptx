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61" r:id="rId3"/>
    <p:sldId id="268" r:id="rId4"/>
    <p:sldId id="269" r:id="rId5"/>
    <p:sldId id="264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58" y="3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19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17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1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1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18" Type="http://schemas.openxmlformats.org/officeDocument/2006/relationships/image" Target="../media/image53.png"/><Relationship Id="rId26" Type="http://schemas.openxmlformats.org/officeDocument/2006/relationships/image" Target="../media/image61.png"/><Relationship Id="rId3" Type="http://schemas.openxmlformats.org/officeDocument/2006/relationships/image" Target="../media/image38.png"/><Relationship Id="rId21" Type="http://schemas.openxmlformats.org/officeDocument/2006/relationships/image" Target="../media/image56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5" Type="http://schemas.openxmlformats.org/officeDocument/2006/relationships/image" Target="../media/image60.png"/><Relationship Id="rId2" Type="http://schemas.openxmlformats.org/officeDocument/2006/relationships/image" Target="../media/image37.png"/><Relationship Id="rId16" Type="http://schemas.openxmlformats.org/officeDocument/2006/relationships/image" Target="../media/image51.png"/><Relationship Id="rId20" Type="http://schemas.openxmlformats.org/officeDocument/2006/relationships/image" Target="../media/image55.png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24" Type="http://schemas.openxmlformats.org/officeDocument/2006/relationships/image" Target="../media/image59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23" Type="http://schemas.openxmlformats.org/officeDocument/2006/relationships/image" Target="../media/image58.png"/><Relationship Id="rId28" Type="http://schemas.openxmlformats.org/officeDocument/2006/relationships/image" Target="../media/image17.png"/><Relationship Id="rId10" Type="http://schemas.openxmlformats.org/officeDocument/2006/relationships/image" Target="../media/image45.png"/><Relationship Id="rId19" Type="http://schemas.openxmlformats.org/officeDocument/2006/relationships/image" Target="../media/image54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Relationship Id="rId22" Type="http://schemas.openxmlformats.org/officeDocument/2006/relationships/image" Target="../media/image57.png"/><Relationship Id="rId27" Type="http://schemas.openxmlformats.org/officeDocument/2006/relationships/image" Target="../media/image62.png"/><Relationship Id="rId30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5924550"/>
            <a:ext cx="10858500" cy="361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3975" y="571500"/>
            <a:ext cx="2581275" cy="3333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750" y="2735609"/>
            <a:ext cx="8001000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0" i="0" u="none">
                <a:solidFill>
                  <a:srgbClr val="FFFFFF"/>
                </a:solidFill>
                <a:latin typeface="Poppins ExtraBold"/>
              </a:rPr>
              <a:t>5 Quick Wins para Logística y Abastecimiento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4046190"/>
            <a:ext cx="76200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94A3B8"/>
                </a:solidFill>
                <a:latin typeface="Inter"/>
              </a:rPr>
              <a:t>De caótico a controlado en 30-45 días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6124575"/>
            <a:ext cx="1828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Inter"/>
              </a:rPr>
              <a:t>ColinaNet | Área de Logística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6400" y="6124575"/>
            <a:ext cx="22288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Inter"/>
              </a:rPr>
              <a:t>Transformación Digital e Inventarios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728" y="691092"/>
            <a:ext cx="323850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41170" y="719137"/>
            <a:ext cx="4857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 dirty="0">
                <a:solidFill>
                  <a:srgbClr val="38BDF8"/>
                </a:solidFill>
                <a:latin typeface="Poppins ExtraBold"/>
              </a:rPr>
              <a:t>Net</a:t>
            </a:r>
          </a:p>
        </p:txBody>
      </p:sp>
      <p:pic>
        <p:nvPicPr>
          <p:cNvPr id="11" name="Graphic 11" descr="Almacén y logístic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63000" y="2159000"/>
            <a:ext cx="254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328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047875"/>
            <a:ext cx="11239500" cy="1714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857625"/>
            <a:ext cx="3606700" cy="1828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2500" y="3857625"/>
            <a:ext cx="3606849" cy="1828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8900" y="3857625"/>
            <a:ext cx="3606700" cy="182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0" y="381000"/>
            <a:ext cx="7772400" cy="5588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r"/>
            <a:r>
              <a:rPr lang="es-ES" sz="2400" b="1" i="0" u="none" dirty="0">
                <a:solidFill>
                  <a:srgbClr val="0F172A"/>
                </a:solidFill>
                <a:latin typeface="Poppins"/>
              </a:rPr>
              <a:t>1. Control de Inventario y Activos con QR</a:t>
            </a:r>
          </a:p>
        </p:txBody>
      </p:sp>
      <p:sp>
        <p:nvSpPr>
          <p:cNvPr id="8" name="Rectangle 7"/>
          <p:cNvSpPr/>
          <p:nvPr/>
        </p:nvSpPr>
        <p:spPr>
          <a:xfrm>
            <a:off x="476250" y="1009650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6562" y="485775"/>
            <a:ext cx="1119187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495300"/>
            <a:ext cx="3429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" y="2057400"/>
            <a:ext cx="11220450" cy="1695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71550" y="4095750"/>
            <a:ext cx="2873275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0" i="0" u="none">
                <a:solidFill>
                  <a:srgbClr val="DC2626"/>
                </a:solidFill>
                <a:latin typeface="Poppins SemiBold"/>
              </a:rPr>
              <a:t>El Problema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8750" y="4095750"/>
            <a:ext cx="2892474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0" i="0" u="none">
                <a:solidFill>
                  <a:srgbClr val="2563EB"/>
                </a:solidFill>
                <a:latin typeface="Poppins SemiBold"/>
              </a:rPr>
              <a:t>La Solución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4200" y="4095750"/>
            <a:ext cx="2873275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0" i="0" u="none">
                <a:solidFill>
                  <a:srgbClr val="16A34A"/>
                </a:solidFill>
                <a:latin typeface="Poppins SemiBold"/>
              </a:rPr>
              <a:t>Resultado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4375" y="4138612"/>
            <a:ext cx="161925" cy="1619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4400" y="4457700"/>
            <a:ext cx="29304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No sé exactamente qué tengo en almacén.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52975"/>
            <a:ext cx="29304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No encuentro equipos cuando los necesito.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48250"/>
            <a:ext cx="29304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El inventario físico toma varios días.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30625" y="4138612"/>
            <a:ext cx="142875" cy="16192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740175" y="4457700"/>
            <a:ext cx="292104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Cada equipo tiene un código QR único.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40175" y="4752975"/>
            <a:ext cx="292104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Se escanea directamente desde el celular.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40175" y="5048250"/>
            <a:ext cx="29210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Visibilidad en tiempo real desde cualquier lugar.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47025" y="4138612"/>
            <a:ext cx="161925" cy="1619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575625" y="4457700"/>
            <a:ext cx="29018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Búsqueda de equipos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en 5 segundos.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5625" y="4752975"/>
            <a:ext cx="29018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Cero equipos "perdidos"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en almacén.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5625" y="5048250"/>
            <a:ext cx="29018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Inventario físico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10x más rápido.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375" y="4481512"/>
            <a:ext cx="104775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375" y="4776787"/>
            <a:ext cx="104775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375" y="5072380"/>
            <a:ext cx="104775" cy="1428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30625" y="4481512"/>
            <a:ext cx="114300" cy="1428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30625" y="4776787"/>
            <a:ext cx="114300" cy="1428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30625" y="5072062"/>
            <a:ext cx="114300" cy="1428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47025" y="4481512"/>
            <a:ext cx="133350" cy="1428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47025" y="4776787"/>
            <a:ext cx="133350" cy="1428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47025" y="5072062"/>
            <a:ext cx="133350" cy="14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664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625600"/>
            <a:ext cx="6680200" cy="1600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225800"/>
            <a:ext cx="6680200" cy="1600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826000"/>
            <a:ext cx="6680200" cy="1600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381000"/>
            <a:ext cx="7772400" cy="5588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r"/>
            <a:r>
              <a:rPr lang="es-ES" sz="2400" b="1" i="0" u="none" dirty="0">
                <a:solidFill>
                  <a:srgbClr val="0F172A"/>
                </a:solidFill>
                <a:latin typeface="Poppins"/>
              </a:rPr>
              <a:t>2. Catálogo Electrónico de Compras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6250" y="1009650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7987" y="485775"/>
            <a:ext cx="1147762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00" y="393700"/>
            <a:ext cx="571500" cy="5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37200" y="1778000"/>
            <a:ext cx="5969000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DC2626"/>
                </a:solidFill>
                <a:latin typeface="Poppins SemiBold"/>
              </a:rPr>
              <a:t>El Problema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7200" y="3378200"/>
            <a:ext cx="5969000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2563EB"/>
                </a:solidFill>
                <a:latin typeface="Poppins SemiBold"/>
              </a:rPr>
              <a:t>La Solución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7200" y="4978400"/>
            <a:ext cx="5969000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16A34A"/>
                </a:solidFill>
                <a:latin typeface="Poppins SemiBold"/>
              </a:rPr>
              <a:t>Resultado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7800" y="1828800"/>
            <a:ext cx="180975" cy="1809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0" y="2209800"/>
            <a:ext cx="6019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0" i="0" u="none">
                <a:solidFill>
                  <a:srgbClr val="475569"/>
                </a:solidFill>
                <a:latin typeface="Inter"/>
              </a:rPr>
              <a:t>Las solicitudes llegan por WhatsApp, email, papel... no hay orden.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540000"/>
            <a:ext cx="6019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0" i="0" u="none">
                <a:solidFill>
                  <a:srgbClr val="475569"/>
                </a:solidFill>
                <a:latin typeface="Inter"/>
              </a:rPr>
              <a:t>No sé quién aprobó qué ni cuándo.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870200"/>
            <a:ext cx="6019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0" i="0" u="none">
                <a:solidFill>
                  <a:srgbClr val="475569"/>
                </a:solidFill>
                <a:latin typeface="Inter"/>
              </a:rPr>
              <a:t>Todo se pierde cuando el comprador sale de vacaciones.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7800" y="3429000"/>
            <a:ext cx="228600" cy="1809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0" y="3810000"/>
            <a:ext cx="6019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0" i="0" u="none">
                <a:solidFill>
                  <a:srgbClr val="475569"/>
                </a:solidFill>
                <a:latin typeface="Inter"/>
              </a:rPr>
              <a:t>Catálogo online con productos pre-aprobados.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140200"/>
            <a:ext cx="6019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0" i="0" u="none">
                <a:solidFill>
                  <a:srgbClr val="475569"/>
                </a:solidFill>
                <a:latin typeface="Inter"/>
              </a:rPr>
              <a:t>Solicitudes digitales desde el celular con foto.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470400"/>
            <a:ext cx="6019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0" i="0" u="none">
                <a:solidFill>
                  <a:srgbClr val="475569"/>
                </a:solidFill>
                <a:latin typeface="Inter"/>
              </a:rPr>
              <a:t>Aprobaciones automáticas según el monto asignado.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57800" y="5029200"/>
            <a:ext cx="180975" cy="1809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0" y="5410200"/>
            <a:ext cx="6019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1" i="0" u="none">
                <a:solidFill>
                  <a:srgbClr val="475569"/>
                </a:solidFill>
                <a:latin typeface="Inter"/>
              </a:rPr>
              <a:t>Cero solicitudes perdidas</a:t>
            </a:r>
            <a:r>
              <a:rPr sz="1300" b="0" i="0" u="none">
                <a:solidFill>
                  <a:srgbClr val="475569"/>
                </a:solidFill>
                <a:latin typeface="Inter"/>
              </a:rPr>
              <a:t> o traspapeladas.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5740400"/>
            <a:ext cx="6019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1" i="0" u="none">
                <a:solidFill>
                  <a:srgbClr val="475569"/>
                </a:solidFill>
                <a:latin typeface="Inter"/>
              </a:rPr>
              <a:t>Trazabilidad total</a:t>
            </a:r>
            <a:r>
              <a:rPr sz="1300" b="0" i="0" u="none">
                <a:solidFill>
                  <a:srgbClr val="475569"/>
                </a:solidFill>
                <a:latin typeface="Inter"/>
              </a:rPr>
              <a:t> de cada orden de compra.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070600"/>
            <a:ext cx="6019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1" i="0" u="none">
                <a:solidFill>
                  <a:srgbClr val="475569"/>
                </a:solidFill>
                <a:latin typeface="Inter"/>
              </a:rPr>
              <a:t>Tranquilidad y continuidad</a:t>
            </a:r>
            <a:r>
              <a:rPr sz="1300" b="0" i="0" u="none">
                <a:solidFill>
                  <a:srgbClr val="475569"/>
                </a:solidFill>
                <a:latin typeface="Inter"/>
              </a:rPr>
              <a:t> para todo el equipo.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57800" y="2247900"/>
            <a:ext cx="104775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57800" y="2578100"/>
            <a:ext cx="104775" cy="1428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57800" y="2908300"/>
            <a:ext cx="104775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57800" y="3848100"/>
            <a:ext cx="114300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57800" y="4178300"/>
            <a:ext cx="114300" cy="1428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57800" y="4508500"/>
            <a:ext cx="114300" cy="1428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57800" y="5448300"/>
            <a:ext cx="133350" cy="1428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57800" y="5778500"/>
            <a:ext cx="133350" cy="1428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57800" y="6108700"/>
            <a:ext cx="133350" cy="142875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E870BB69-BE61-6EB5-ED60-26AACFA9CDD8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16000" r="50000" b="2000"/>
          <a:stretch>
            <a:fillRect/>
          </a:stretch>
        </p:blipFill>
        <p:spPr>
          <a:xfrm>
            <a:off x="482600" y="1930400"/>
            <a:ext cx="4267200" cy="420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877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625600"/>
            <a:ext cx="6680200" cy="1397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149600"/>
            <a:ext cx="6680200" cy="1803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5080000"/>
            <a:ext cx="6680200" cy="142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381000"/>
            <a:ext cx="7772400" cy="5588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r"/>
            <a:r>
              <a:rPr lang="es-ES" sz="2400" b="1" i="0" u="none" dirty="0">
                <a:solidFill>
                  <a:srgbClr val="0F172A"/>
                </a:solidFill>
                <a:latin typeface="Poppins"/>
              </a:rPr>
              <a:t>3. Checklist Digital de Recepción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476250" y="1009650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7987" y="485775"/>
            <a:ext cx="1147762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00" y="393700"/>
            <a:ext cx="381000" cy="5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37200" y="1752600"/>
            <a:ext cx="5969000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DC2626"/>
                </a:solidFill>
                <a:latin typeface="Poppins SemiBold"/>
              </a:rPr>
              <a:t>El Problema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7200" y="3276600"/>
            <a:ext cx="5969000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2563EB"/>
                </a:solidFill>
                <a:latin typeface="Poppins SemiBold"/>
              </a:rPr>
              <a:t>La Solución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7200" y="5207000"/>
            <a:ext cx="5969000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16A34A"/>
                </a:solidFill>
                <a:latin typeface="Poppins SemiBold"/>
              </a:rPr>
              <a:t>Resultado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7800" y="1803400"/>
            <a:ext cx="180975" cy="1809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0" y="2133600"/>
            <a:ext cx="6019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0" i="0" u="none">
                <a:solidFill>
                  <a:srgbClr val="475569"/>
                </a:solidFill>
                <a:latin typeface="Inter"/>
              </a:rPr>
              <a:t>Llegan equipos y no sé si vienen completos.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438400"/>
            <a:ext cx="6019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0" i="0" u="none">
                <a:solidFill>
                  <a:srgbClr val="475569"/>
                </a:solidFill>
                <a:latin typeface="Inter"/>
              </a:rPr>
              <a:t>No tengo evidencia fotográfica para reclamar al proveedor.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743200"/>
            <a:ext cx="6019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0" i="0" u="none">
                <a:solidFill>
                  <a:srgbClr val="475569"/>
                </a:solidFill>
                <a:latin typeface="Inter"/>
              </a:rPr>
              <a:t>La recepción de mercadería es lenta y 100% manual.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7800" y="3327400"/>
            <a:ext cx="133350" cy="1809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0" y="3657600"/>
            <a:ext cx="6019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0" i="0" u="none">
                <a:solidFill>
                  <a:srgbClr val="475569"/>
                </a:solidFill>
                <a:latin typeface="Inter"/>
              </a:rPr>
              <a:t>App móvil con checklist paso a paso obligatorio.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3962400"/>
            <a:ext cx="6019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0" i="0" u="none">
                <a:solidFill>
                  <a:srgbClr val="475569"/>
                </a:solidFill>
                <a:latin typeface="Inter"/>
              </a:rPr>
              <a:t>Captura de fotos automática del estado de carga.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267200"/>
            <a:ext cx="6019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0" i="0" u="none">
                <a:solidFill>
                  <a:srgbClr val="475569"/>
                </a:solidFill>
                <a:latin typeface="Inter"/>
              </a:rPr>
              <a:t>Validación inmediata contra la orden de compra.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4572000"/>
            <a:ext cx="6019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0" i="0" u="none">
                <a:solidFill>
                  <a:srgbClr val="475569"/>
                </a:solidFill>
                <a:latin typeface="Inter"/>
              </a:rPr>
              <a:t>Firma digital de conformidad al recibir.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57800" y="5257800"/>
            <a:ext cx="180975" cy="1809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86400" y="5588000"/>
            <a:ext cx="6019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1" i="0" u="none">
                <a:solidFill>
                  <a:srgbClr val="475569"/>
                </a:solidFill>
                <a:latin typeface="Inter"/>
              </a:rPr>
              <a:t>Cero reclamos</a:t>
            </a:r>
            <a:r>
              <a:rPr sz="1300" b="0" i="0" u="none">
                <a:solidFill>
                  <a:srgbClr val="475569"/>
                </a:solidFill>
                <a:latin typeface="Inter"/>
              </a:rPr>
              <a:t> por falta de equipos incompletos.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5892800"/>
            <a:ext cx="6019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1" i="0" u="none">
                <a:solidFill>
                  <a:srgbClr val="475569"/>
                </a:solidFill>
                <a:latin typeface="Inter"/>
              </a:rPr>
              <a:t>Evidencia respaldada</a:t>
            </a:r>
            <a:r>
              <a:rPr sz="1300" b="0" i="0" u="none">
                <a:solidFill>
                  <a:srgbClr val="475569"/>
                </a:solidFill>
                <a:latin typeface="Inter"/>
              </a:rPr>
              <a:t> para disputas con proveedores.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197600"/>
            <a:ext cx="6019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1" i="0" u="none">
                <a:solidFill>
                  <a:srgbClr val="475569"/>
                </a:solidFill>
                <a:latin typeface="Inter"/>
              </a:rPr>
              <a:t>Recepción ágil</a:t>
            </a:r>
            <a:r>
              <a:rPr sz="1300" b="0" i="0" u="none">
                <a:solidFill>
                  <a:srgbClr val="475569"/>
                </a:solidFill>
                <a:latin typeface="Inter"/>
              </a:rPr>
              <a:t> en solo 10 minutos.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57800" y="2171700"/>
            <a:ext cx="104775" cy="1428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57800" y="2476500"/>
            <a:ext cx="104775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57800" y="2781300"/>
            <a:ext cx="104775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57800" y="3695700"/>
            <a:ext cx="114300" cy="1428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57800" y="4000500"/>
            <a:ext cx="114300" cy="1428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57800" y="4305300"/>
            <a:ext cx="114300" cy="1428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57800" y="4610100"/>
            <a:ext cx="114300" cy="1428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57800" y="5626100"/>
            <a:ext cx="133350" cy="1428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57800" y="5930900"/>
            <a:ext cx="133350" cy="1428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57800" y="6235700"/>
            <a:ext cx="133350" cy="142875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65B32F0B-29BF-33F6-1349-A86DCF47FE89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50000" t="16000" b="2000"/>
          <a:stretch>
            <a:fillRect/>
          </a:stretch>
        </p:blipFill>
        <p:spPr>
          <a:xfrm>
            <a:off x="482600" y="2032000"/>
            <a:ext cx="4267200" cy="398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841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495425"/>
            <a:ext cx="5225057" cy="1447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076575"/>
            <a:ext cx="5225057" cy="1152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362450"/>
            <a:ext cx="5225057" cy="1876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8007" y="4562475"/>
            <a:ext cx="5747742" cy="15430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7532" y="4019550"/>
            <a:ext cx="5728692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" y="4781550"/>
            <a:ext cx="2374403" cy="3619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5928" y="4781550"/>
            <a:ext cx="2374403" cy="3619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" y="5257800"/>
            <a:ext cx="2374403" cy="3619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45928" y="5257800"/>
            <a:ext cx="2374403" cy="3619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225" y="5734050"/>
            <a:ext cx="2374403" cy="3619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45928" y="5734050"/>
            <a:ext cx="2374403" cy="3619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6000" y="381000"/>
            <a:ext cx="7772400" cy="5588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r"/>
            <a:r>
              <a:rPr lang="es-ES" sz="2200" b="1" i="0" u="none" dirty="0">
                <a:solidFill>
                  <a:srgbClr val="0F172A"/>
                </a:solidFill>
                <a:latin typeface="Poppins"/>
              </a:rPr>
              <a:t>4 y 5. Dashboard con KPIs + Reportes Automáticos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6250" y="1009650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20325" y="485775"/>
            <a:ext cx="1495425" cy="3238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6250" y="495300"/>
            <a:ext cx="3429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4400" y="1657350"/>
            <a:ext cx="4586882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0" i="0" u="none">
                <a:solidFill>
                  <a:srgbClr val="DC2626"/>
                </a:solidFill>
                <a:latin typeface="Poppins SemiBold"/>
              </a:rPr>
              <a:t>El Problema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238500"/>
            <a:ext cx="4586882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0" i="0" u="none">
                <a:solidFill>
                  <a:srgbClr val="2563EB"/>
                </a:solidFill>
                <a:latin typeface="Poppins SemiBold"/>
              </a:rPr>
              <a:t>La Solución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000" y="4505325"/>
            <a:ext cx="4863107" cy="200025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oppins"/>
              </a:rPr>
              <a:t>KPIs Principales Monitoreados: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77532" y="1404937"/>
            <a:ext cx="5728692" cy="261461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51600" y="4762500"/>
            <a:ext cx="5100042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16A34A"/>
                </a:solidFill>
                <a:latin typeface="Poppins SemiBold"/>
              </a:rPr>
              <a:t>Resultado Esperado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6275" y="1695450"/>
            <a:ext cx="142875" cy="1428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76300" y="1990725"/>
            <a:ext cx="462498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Cuando gerencia pregunta cómo vamos, armo Excel a mano.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300" y="2286000"/>
            <a:ext cx="462498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Pierdo 3-4 horas cada lunes en elaboración de reportes.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300" y="2581275"/>
            <a:ext cx="462498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No hay visibilidad en vivo del status del área.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6275" y="3276600"/>
            <a:ext cx="142875" cy="14287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85825" y="3571875"/>
            <a:ext cx="461545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Pantalla con KPIs actualizados en tiempo real.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5825" y="3867150"/>
            <a:ext cx="461545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Reportes automáticos enviados solos cada lunes (WhatsApp/Email).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7225" y="4533900"/>
            <a:ext cx="133350" cy="1333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26150" y="4157662"/>
            <a:ext cx="114300" cy="1143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87082" y="4805362"/>
            <a:ext cx="114300" cy="1524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415682" y="5114925"/>
            <a:ext cx="508099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Gerencia ve el status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en vivo sin pedir reportes.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5682" y="5410200"/>
            <a:ext cx="508099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4 horas semanales recuperadas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de trabajo operativo.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5682" y="5705475"/>
            <a:ext cx="508099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Posicionamiento estratégico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del área ante la dirección.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5800" y="4895850"/>
            <a:ext cx="152400" cy="1333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174502" y="4895850"/>
            <a:ext cx="104775" cy="1333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85800" y="5372100"/>
            <a:ext cx="133350" cy="13335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174502" y="5372100"/>
            <a:ext cx="171450" cy="13335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85800" y="5848350"/>
            <a:ext cx="152400" cy="1333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174502" y="5848350"/>
            <a:ext cx="104775" cy="1333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76275" y="2014537"/>
            <a:ext cx="104775" cy="14287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76275" y="2309812"/>
            <a:ext cx="104775" cy="14287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76275" y="2605087"/>
            <a:ext cx="104775" cy="14287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76275" y="3595687"/>
            <a:ext cx="114300" cy="142875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76275" y="3890962"/>
            <a:ext cx="114300" cy="142875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187082" y="5138737"/>
            <a:ext cx="133350" cy="142875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187082" y="5434012"/>
            <a:ext cx="133350" cy="142875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187082" y="5729287"/>
            <a:ext cx="133350" cy="14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498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87415DE-8B98-430C-9E1A-AE68E0AB0C69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1841df7d-cce5-4ea8-b85c-8d7bef9191b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381</Words>
  <Application>Microsoft Office PowerPoint</Application>
  <PresentationFormat>Panorámica</PresentationFormat>
  <Paragraphs>58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2" baseType="lpstr">
      <vt:lpstr>Arial</vt:lpstr>
      <vt:lpstr>Calibri</vt:lpstr>
      <vt:lpstr>Inter</vt:lpstr>
      <vt:lpstr>Poppins</vt:lpstr>
      <vt:lpstr>Poppins ExtraBold</vt:lpstr>
      <vt:lpstr>Poppins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FERNANDO</dc:creator>
  <cp:keywords/>
  <dc:description>generated using python-pptx</dc:description>
  <cp:lastModifiedBy>Fernando Perez</cp:lastModifiedBy>
  <cp:revision>2</cp:revision>
  <dcterms:created xsi:type="dcterms:W3CDTF">2013-01-27T09:14:16Z</dcterms:created>
  <dcterms:modified xsi:type="dcterms:W3CDTF">2026-08-06T14:41:03Z</dcterms:modified>
  <cp:category/>
</cp:coreProperties>
</file>