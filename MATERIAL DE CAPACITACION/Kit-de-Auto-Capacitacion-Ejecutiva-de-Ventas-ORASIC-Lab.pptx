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Medium"/>
      <p:regular r:id="rId201316"/>
    </p:embeddedFont>
    <p:embeddedFont>
      <p:font typeface="Sora Medium"/>
      <p:regular r:id="rId201317"/>
    </p:embeddedFont>
    <p:embeddedFont>
      <p:font typeface="Sora"/>
      <p:regular r:id="rId201318"/>
    </p:embeddedFont>
    <p:embeddedFont>
      <p:font typeface="Sor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9645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Kit de Auto-Capacitación: Ejecutiva de Ventas ORASIC Lab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187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Material didáctico interactivo para auto-entrenamiento en ventas consultivas de software a medida en Colombia. Cinco bloques. Una meta: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primera llamada real sin inventar datos ni presionar al cliente.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4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Tu Misión en la Primera Llamada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2923778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"Tu negocio, hecho aplicación."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711152"/>
            <a:ext cx="25399" cy="727670"/>
          </a:xfrm>
          <a:prstGeom prst="roundRect">
            <a:avLst>
              <a:gd name="adj" fmla="val 50001"/>
            </a:avLst>
          </a:prstGeom>
          <a:solidFill>
            <a:srgbClr val="97B8FF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651448"/>
            <a:ext cx="10868745" cy="1463973"/>
          </a:xfrm>
          <a:prstGeom prst="roundRect">
            <a:avLst>
              <a:gd name="adj" fmla="val 1937"/>
            </a:avLst>
          </a:prstGeom>
          <a:solidFill>
            <a:srgbClr val="26262B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651448"/>
            <a:ext cx="5434373" cy="1463973"/>
          </a:xfrm>
          <a:custGeom>
            <a:avLst/>
            <a:gdLst/>
            <a:ahLst/>
            <a:cxnLst/>
            <a:rect l="l" t="t" r="r" b="b"/>
            <a:pathLst>
              <a:path w="5434373" h="1463973">
                <a:moveTo>
                  <a:pt x="23627" y="0"/>
                </a:moveTo>
                <a:lnTo>
                  <a:pt x="5434373" y="0"/>
                </a:lnTo>
                <a:lnTo>
                  <a:pt x="5434373" y="1463973"/>
                </a:lnTo>
                <a:lnTo>
                  <a:pt x="23627" y="1463973"/>
                </a:lnTo>
                <a:arcTo hR="23628" wR="23627" stAng="5400000" swAng="5400000"/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120336"/>
          </a:solidFill>
          <a:ln/>
        </p:spPr>
      </p:sp>
      <p:sp>
        <p:nvSpPr>
          <p:cNvPr id="7" name="Text 5"/>
          <p:cNvSpPr/>
          <p:nvPr/>
        </p:nvSpPr>
        <p:spPr>
          <a:xfrm>
            <a:off x="850482" y="3840460"/>
            <a:ext cx="505635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NO hacer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4255492"/>
            <a:ext cx="505635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Vender la app ni dar precios cerrados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Prometer plazos sin validación técnica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48" y="3651448"/>
            <a:ext cx="5434373" cy="1463973"/>
          </a:xfrm>
          <a:custGeom>
            <a:avLst/>
            <a:gdLst/>
            <a:ahLst/>
            <a:cxnLst/>
            <a:rect l="l" t="t" r="r" b="b"/>
            <a:pathLst>
              <a:path w="5434373" h="1463973">
                <a:moveTo>
                  <a:pt x="0" y="0"/>
                </a:moveTo>
                <a:lnTo>
                  <a:pt x="5410745" y="0"/>
                </a:lnTo>
                <a:arcTo hR="23628" wR="23627" stAng="16200000" swAng="5400000"/>
                <a:lnTo>
                  <a:pt x="5434373" y="1440345"/>
                </a:lnTo>
                <a:arcTo hR="23628" wR="23627" stAng="0" swAng="5400000"/>
                <a:lnTo>
                  <a:pt x="0" y="1463973"/>
                </a:lnTo>
                <a:lnTo>
                  <a:pt x="0" y="0"/>
                </a:lnTo>
                <a:close/>
              </a:path>
            </a:pathLst>
          </a:custGeom>
          <a:solidFill>
            <a:srgbClr val="97B8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651448"/>
            <a:ext cx="25399" cy="1463973"/>
          </a:xfrm>
          <a:prstGeom prst="roundRect">
            <a:avLst>
              <a:gd name="adj" fmla="val 50001"/>
            </a:avLst>
          </a:prstGeom>
          <a:solidFill>
            <a:srgbClr val="7D9EE5"/>
          </a:solidFill>
          <a:ln/>
        </p:spPr>
      </p:sp>
      <p:sp>
        <p:nvSpPr>
          <p:cNvPr id="11" name="Text 9"/>
          <p:cNvSpPr/>
          <p:nvPr/>
        </p:nvSpPr>
        <p:spPr>
          <a:xfrm>
            <a:off x="6284854" y="3840460"/>
            <a:ext cx="505635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SÍ hacer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284854" y="4255492"/>
            <a:ext cx="505635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Entender el dolor real del negocio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Agendar el Diagnóstico Profundo con fecha concreta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1897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Zona de Seguridad: Principios No Negociables</a:t>
            </a:r>
            <a:endParaRPr lang="en-US" sz="2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77987"/>
            <a:ext cx="6296860" cy="10641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5547" y="1845866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Honestidad Radical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905547" y="2148582"/>
            <a:ext cx="588491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Nunca inventes testimonios, cifras ni casos. Si no sabes algo: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"Te confirmo en menos de 24h."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59286"/>
            <a:ext cx="6296860" cy="10641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5547" y="3027164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Portafolio Real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905547" y="3329880"/>
            <a:ext cx="588491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Solo muestra lo que está en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orasic-lab.vercel.app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No atribuyas proyectos sin autorización.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40584"/>
            <a:ext cx="6296860" cy="10641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5547" y="4208463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Corrección Verbal Urgente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905547" y="4511179"/>
            <a:ext cx="588491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 la web dice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"ZEUS Growth OS / Perú"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En conversación SIEMPRE di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"Elite Fuel Sales / Colombia"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21883"/>
            <a:ext cx="6296860" cy="106412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5547" y="5389761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SIC/SENATI y Canal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905547" y="5692477"/>
            <a:ext cx="5884914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Existe pero no está documentado. No lo menciones hasta tener ficha verificada. Canal: WhatsApp +51 999 039 947 — confirmar número CO antes de salir a campo.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1865"/>
            <a:ext cx="1591826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48519"/>
            <a:ext cx="19746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BLOQUE 1 · 45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54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Identidad y Promesa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177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 que debes memorizar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70202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No somos: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Agencia de plantillas, no-code genérico, vendedores de humo.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3476923"/>
            <a:ext cx="5203794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#1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Apps a medida alrededor del flujo real del cliente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#2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IA para construir más rápido y barato sin perder calidad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#3 (El más importante)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 entregamos código y desaparecemos. Acompañamiento continuo.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529123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Respaldo: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+100 apps · 12 rubros · Perú y Colombia · Respuesta en menos de 24h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6651" y="2028726"/>
            <a:ext cx="5476043" cy="4037409"/>
          </a:xfrm>
          <a:prstGeom prst="roundRect">
            <a:avLst>
              <a:gd name="adj" fmla="val 702"/>
            </a:avLst>
          </a:prstGeom>
          <a:solidFill>
            <a:srgbClr val="120336"/>
          </a:solidFill>
          <a:ln/>
        </p:spPr>
      </p:sp>
      <p:sp>
        <p:nvSpPr>
          <p:cNvPr id="10" name="Text 8"/>
          <p:cNvSpPr/>
          <p:nvPr/>
        </p:nvSpPr>
        <p:spPr>
          <a:xfrm>
            <a:off x="6385658" y="2217738"/>
            <a:ext cx="50980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Ejercicio: El Espejo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2708374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Grábate respondiendo (máx. 30 seg c/u):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85658" y="3180854"/>
            <a:ext cx="5098029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¿Qué hace ORASIC Lab?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¿Por qué elegirnos y no una agencia tradicional?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¿Qué pasa si mi negocio cambia después de entregar?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85658" y="4692749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 suenas robótica o inventas datos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Repite.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2604"/>
            <a:ext cx="1512155" cy="272752"/>
          </a:xfrm>
          <a:prstGeom prst="roundRect">
            <a:avLst>
              <a:gd name="adj" fmla="val 7900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726380"/>
            <a:ext cx="190644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BLOQUE 2 · 45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1352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Portafolio Vivo: 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830586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Encuentra cada caso en menos de 30 segundos. El portafolio es una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muestra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no un límite.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2302570"/>
            <a:ext cx="10868745" cy="2997002"/>
          </a:xfrm>
          <a:prstGeom prst="roundRect">
            <a:avLst>
              <a:gd name="adj" fmla="val 89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825" y="2308920"/>
            <a:ext cx="10856046" cy="4973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47406" y="2417564"/>
            <a:ext cx="24185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Rubro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21731" y="2417564"/>
            <a:ext cx="328395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Caso Clave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61419" y="2417564"/>
            <a:ext cx="589255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Dolor Resuelto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825" y="2806303"/>
            <a:ext cx="10856046" cy="4973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47406" y="2914948"/>
            <a:ext cx="24185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Belleza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21731" y="2914948"/>
            <a:ext cx="328395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Blink &amp; Bloom / SalonBot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61419" y="2914948"/>
            <a:ext cx="589255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Reservas perdidas en WhatsApp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825" y="3303687"/>
            <a:ext cx="10856046" cy="4973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47406" y="3412331"/>
            <a:ext cx="24185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Salud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21731" y="3412331"/>
            <a:ext cx="328395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SOLUM Podología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1419" y="3412331"/>
            <a:ext cx="589255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Historias en papel y folders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825" y="3801070"/>
            <a:ext cx="10856046" cy="4973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7406" y="3909715"/>
            <a:ext cx="24185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Retail 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21731" y="3909715"/>
            <a:ext cx="328395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Tienda de Lui (Manizales)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61419" y="3909715"/>
            <a:ext cx="589255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Catálogo interactivo + marca IA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825" y="4298454"/>
            <a:ext cx="10856046" cy="4973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47406" y="4407098"/>
            <a:ext cx="24185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21731" y="4407098"/>
            <a:ext cx="328395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Elite Fuel Sales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61419" y="4407098"/>
            <a:ext cx="589255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Gestión comercial red estaciones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825" y="4795838"/>
            <a:ext cx="10856046" cy="4973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47406" y="4904482"/>
            <a:ext cx="24185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Educación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21731" y="4904482"/>
            <a:ext cx="328395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SimuLearn 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61419" y="4904482"/>
            <a:ext cx="589255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Simulación empresarial alta fidelidad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1475" y="5491460"/>
            <a:ext cx="10868745" cy="693837"/>
          </a:xfrm>
          <a:prstGeom prst="roundRect">
            <a:avLst>
              <a:gd name="adj" fmla="val 3882"/>
            </a:avLst>
          </a:prstGeom>
          <a:solidFill>
            <a:srgbClr val="002880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57" y="5733951"/>
            <a:ext cx="224427" cy="179487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44867" y="5706864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 el rubro no está: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"No tenemos caso exacto, pero así resolveríamos tu problema…"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conecta con el dolor.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163"/>
            <a:ext cx="1034528" cy="186630"/>
          </a:xfrm>
          <a:prstGeom prst="roundRect">
            <a:avLst>
              <a:gd name="adj" fmla="val 7900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574973"/>
            <a:ext cx="1496876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BLOQUE 3 · 60 MIN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56642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Las 4 Preguntas de Oro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946" y="1260376"/>
            <a:ext cx="5493803" cy="2514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5579" y="3177686"/>
            <a:ext cx="10314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Prioridad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55704" y="3177686"/>
            <a:ext cx="1031422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Impacto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62893" y="3177686"/>
            <a:ext cx="10314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41824" y="3177686"/>
            <a:ext cx="10314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Situación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1475" y="386457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Estas cuatro preguntas guían la conversación desde la situación actual hasta la prioridad del cliente, sin presionar ni vender prematuramente.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1475" y="4146451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Traductor de Dolores → Servicios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1475" y="4458196"/>
            <a:ext cx="10868745" cy="1390452"/>
          </a:xfrm>
          <a:prstGeom prst="roundRect">
            <a:avLst>
              <a:gd name="adj" fmla="val 132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1475" y="4738191"/>
            <a:ext cx="10868745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1475" y="5015012"/>
            <a:ext cx="10868745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61475" y="5291832"/>
            <a:ext cx="10868745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61475" y="5568652"/>
            <a:ext cx="10868745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90754" y="4518720"/>
            <a:ext cx="63346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Si dice…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761489" y="4518720"/>
            <a:ext cx="524913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Servicio Probable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90754" y="4795540"/>
            <a:ext cx="63346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"Se me pierden pedidos/citas"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761489" y="4795540"/>
            <a:ext cx="524913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Apps de Gestión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90754" y="5072360"/>
            <a:ext cx="63346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"Nadie me encuentra online"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761489" y="5072360"/>
            <a:ext cx="524913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Landing / Web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90754" y="5349180"/>
            <a:ext cx="63346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"Contesto lo mismo mil veces"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761489" y="5349180"/>
            <a:ext cx="524913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Automatización IA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90754" y="5626001"/>
            <a:ext cx="63346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"Tengo idea pero no sé si funciona"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761489" y="5626001"/>
            <a:ext cx="524913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MVP Startup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61475" y="5938441"/>
            <a:ext cx="10868745" cy="381397"/>
          </a:xfrm>
          <a:prstGeom prst="roundRect">
            <a:avLst>
              <a:gd name="adj" fmla="val 4832"/>
            </a:avLst>
          </a:prstGeom>
          <a:solidFill>
            <a:srgbClr val="002880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05" y="6055618"/>
            <a:ext cx="153488" cy="12283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60622" y="6048871"/>
            <a:ext cx="1095635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⏱️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Regla de oro: Quien más habla los primeros 10 minutos debe ser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el cliente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9805"/>
            <a:ext cx="1194465" cy="215305"/>
          </a:xfrm>
          <a:prstGeom prst="roundRect">
            <a:avLst>
              <a:gd name="adj" fmla="val 7901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02270"/>
            <a:ext cx="163399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BLOQUE 4 · 45 MIN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1757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Objeciones: Flashcards de Respuesta Rápida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20031"/>
            <a:ext cx="10868745" cy="8506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725" y="181242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53806" y="1680766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¿Cuánto cuesta?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3806" y="1965920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 del alcance. La IA baja costos. Número concreto tras diagnóstico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sin compromiso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76897"/>
            <a:ext cx="10868745" cy="8506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7725" y="2769295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53806" y="2637631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¿Cuánto demora?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53806" y="2922786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Primera versión funcional en días. El total depende de ajustes.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33763"/>
            <a:ext cx="10868745" cy="8506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725" y="3726160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53806" y="3594497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¿Me abandonarán?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53806" y="3879652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Garantía #1: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 entregamos y desaparecemos. Ajustamos mientras creces.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90628"/>
            <a:ext cx="10868745" cy="8506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7725" y="4683026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353806" y="4551363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¿Por qué no Wix/Shopify?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53806" y="4836517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Plantillas = molde genérico. Nosotros = alrededor de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tu flujo real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347494"/>
            <a:ext cx="10868745" cy="8506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7725" y="5639891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353806" y="5508228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Mala experiencia previa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353806" y="5793383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Validar la emoción. Preguntar qué falló. Mostrar proceso diferente con hechos.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7736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Cierre Seguro: El Guion que Funciona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944936" y="2354759"/>
            <a:ext cx="601339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"Entiendo perfectamente tu situación. Lo mejor ahora es agendar un diagnóstico de 20 min para ver si tiene sentido construir algo juntos. ¿Te queda bien este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[Día]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las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[Hora]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 Te envío la invitación por WhatsApp ahora mismo."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142133"/>
            <a:ext cx="25399" cy="1634927"/>
          </a:xfrm>
          <a:prstGeom prst="roundRect">
            <a:avLst>
              <a:gd name="adj" fmla="val 50001"/>
            </a:avLst>
          </a:prstGeom>
          <a:solidFill>
            <a:srgbClr val="97B8FF"/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989685"/>
            <a:ext cx="6296860" cy="2190948"/>
          </a:xfrm>
          <a:prstGeom prst="roundRect">
            <a:avLst>
              <a:gd name="adj" fmla="val 1294"/>
            </a:avLst>
          </a:prstGeom>
          <a:solidFill>
            <a:srgbClr val="26262B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989685"/>
            <a:ext cx="6296860" cy="1095474"/>
          </a:xfrm>
          <a:custGeom>
            <a:avLst/>
            <a:gdLst/>
            <a:ahLst/>
            <a:cxnLst/>
            <a:rect l="l" t="t" r="r" b="b"/>
            <a:pathLst>
              <a:path w="6296860" h="1095474">
                <a:moveTo>
                  <a:pt x="23627" y="0"/>
                </a:moveTo>
                <a:lnTo>
                  <a:pt x="6273232" y="0"/>
                </a:lnTo>
                <a:arcTo hR="23628" wR="23627" stAng="16200000" swAng="5400000"/>
                <a:lnTo>
                  <a:pt x="6296860" y="1095474"/>
                </a:lnTo>
                <a:lnTo>
                  <a:pt x="0" y="1095474"/>
                </a:lnTo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120336"/>
          </a:solidFill>
          <a:ln/>
        </p:spPr>
      </p:sp>
      <p:sp>
        <p:nvSpPr>
          <p:cNvPr id="8" name="Text 5"/>
          <p:cNvSpPr/>
          <p:nvPr/>
        </p:nvSpPr>
        <p:spPr>
          <a:xfrm>
            <a:off x="850482" y="4178697"/>
            <a:ext cx="59188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Nunca digas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4593729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"Te escribo luego" sin fecha concreta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5085159"/>
            <a:ext cx="6296860" cy="1095474"/>
          </a:xfrm>
          <a:custGeom>
            <a:avLst/>
            <a:gdLst/>
            <a:ahLst/>
            <a:cxnLst/>
            <a:rect l="l" t="t" r="r" b="b"/>
            <a:pathLst>
              <a:path w="6296860" h="1095474">
                <a:moveTo>
                  <a:pt x="0" y="0"/>
                </a:moveTo>
                <a:lnTo>
                  <a:pt x="6296860" y="0"/>
                </a:lnTo>
                <a:lnTo>
                  <a:pt x="6296860" y="1071846"/>
                </a:lnTo>
                <a:arcTo hR="23628" wR="23627" stAng="0" swAng="5400000"/>
                <a:lnTo>
                  <a:pt x="23627" y="1095474"/>
                </a:lnTo>
                <a:arcTo hR="23628" wR="23627" stAng="5400000" swAng="5400000"/>
                <a:lnTo>
                  <a:pt x="0" y="0"/>
                </a:lnTo>
                <a:close/>
              </a:path>
            </a:pathLst>
          </a:custGeom>
          <a:solidFill>
            <a:srgbClr val="97B8FF"/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5085159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7D9EE5"/>
          </a:solidFill>
          <a:ln/>
        </p:spPr>
      </p:sp>
      <p:sp>
        <p:nvSpPr>
          <p:cNvPr id="12" name="Text 9"/>
          <p:cNvSpPr/>
          <p:nvPr/>
        </p:nvSpPr>
        <p:spPr>
          <a:xfrm>
            <a:off x="850482" y="5274171"/>
            <a:ext cx="59188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Siempre cierra con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5689203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Día + Hora + Acción inmediata por WhatsApp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10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Simulador de Roleplay: Practica Sin Pareja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397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Grábate, usa un chatbot como cliente o practica frente al espejo con cronómetro.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54771"/>
            <a:ext cx="3496877" cy="3432076"/>
          </a:xfrm>
          <a:prstGeom prst="roundRect">
            <a:avLst>
              <a:gd name="adj" fmla="val 826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850482" y="2643783"/>
            <a:ext cx="311886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Nivel 1: Valeria (Estética)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354090"/>
            <a:ext cx="3118863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Dolor: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Pierde clientas por no contestar WhatsApp a las 10pm.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Trampa: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Quiere precio YA.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Misión: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Validar frustración → Cuantificar pérdida → Frenar precio con elegancia.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454771"/>
            <a:ext cx="3496877" cy="3432076"/>
          </a:xfrm>
          <a:prstGeom prst="roundRect">
            <a:avLst>
              <a:gd name="adj" fmla="val 826"/>
            </a:avLst>
          </a:prstGeom>
          <a:solidFill>
            <a:srgbClr val="EAB308"/>
          </a:solidFill>
          <a:ln/>
        </p:spPr>
      </p:sp>
      <p:sp>
        <p:nvSpPr>
          <p:cNvPr id="8" name="Text 6"/>
          <p:cNvSpPr/>
          <p:nvPr/>
        </p:nvSpPr>
        <p:spPr>
          <a:xfrm>
            <a:off x="4536366" y="2643783"/>
            <a:ext cx="311886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Nivel 2: Carlos (B2B Combustibles)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36366" y="3354090"/>
            <a:ext cx="3118863" cy="234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Dolor: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Freelancer anterior lo abandonó. Datos en 5 Excels.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Trampa: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Pide ver código / tecnicismos.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Misión: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 atacar al anterior → "No desaparecemos" → Mostrar Elite Fuel Sales.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454771"/>
            <a:ext cx="3496877" cy="3432076"/>
          </a:xfrm>
          <a:prstGeom prst="roundRect">
            <a:avLst>
              <a:gd name="adj" fmla="val 826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2251" y="2643783"/>
            <a:ext cx="311886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Nivel 3: Andrés (Startup MVP)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2251" y="3354090"/>
            <a:ext cx="3118863" cy="234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Dolor: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Quiere "Uber para abogados" con $2M COP.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Trampa: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Presupuesto irreal + expectativa app completa.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Misión: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Reencuadrar a MVP → Validar hipótesis central → Honestidad sobre alcance.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21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Plan Semanal de Auto-Capacitación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086323" y="1271588"/>
            <a:ext cx="19050" cy="4363641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</p:sp>
      <p:sp>
        <p:nvSpPr>
          <p:cNvPr id="4" name="Shape 2"/>
          <p:cNvSpPr/>
          <p:nvPr/>
        </p:nvSpPr>
        <p:spPr>
          <a:xfrm>
            <a:off x="5491174" y="1432123"/>
            <a:ext cx="453617" cy="1905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</p:sp>
      <p:sp>
        <p:nvSpPr>
          <p:cNvPr id="5" name="Shape 3"/>
          <p:cNvSpPr/>
          <p:nvPr/>
        </p:nvSpPr>
        <p:spPr>
          <a:xfrm>
            <a:off x="5925741" y="1271588"/>
            <a:ext cx="340213" cy="340221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6" name="Text 4"/>
          <p:cNvSpPr/>
          <p:nvPr/>
        </p:nvSpPr>
        <p:spPr>
          <a:xfrm>
            <a:off x="5982394" y="129991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1323479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Lunes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1632248"/>
            <a:ext cx="46783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Identidad</a:t>
            </a:r>
            <a:endParaRPr lang="en-US" sz="115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Grabación + Autoevaluación · 45 min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6904" y="2278856"/>
            <a:ext cx="453617" cy="1905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</p:sp>
      <p:sp>
        <p:nvSpPr>
          <p:cNvPr id="10" name="Shape 8"/>
          <p:cNvSpPr/>
          <p:nvPr/>
        </p:nvSpPr>
        <p:spPr>
          <a:xfrm>
            <a:off x="5925741" y="2118320"/>
            <a:ext cx="340213" cy="340221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1" name="Text 9"/>
          <p:cNvSpPr/>
          <p:nvPr/>
        </p:nvSpPr>
        <p:spPr>
          <a:xfrm>
            <a:off x="5982394" y="214664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851875" y="2170212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Martes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1875" y="2478980"/>
            <a:ext cx="46783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Portafolio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Gymkana Digital · 45 min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91174" y="3030538"/>
            <a:ext cx="453617" cy="1905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5741" y="2870002"/>
            <a:ext cx="340213" cy="340221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6" name="Text 14"/>
          <p:cNvSpPr/>
          <p:nvPr/>
        </p:nvSpPr>
        <p:spPr>
          <a:xfrm>
            <a:off x="5982394" y="289832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61475" y="2921893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Miércoles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3230662"/>
            <a:ext cx="46783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Diagnóstico</a:t>
            </a:r>
            <a:endParaRPr lang="en-US" sz="115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Roleplay Dolores + 4 Preguntas · 60 min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6904" y="3782318"/>
            <a:ext cx="453617" cy="1905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925741" y="3621782"/>
            <a:ext cx="340213" cy="340221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21" name="Text 19"/>
          <p:cNvSpPr/>
          <p:nvPr/>
        </p:nvSpPr>
        <p:spPr>
          <a:xfrm>
            <a:off x="5982394" y="365010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851875" y="3673673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Jueves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1875" y="3982442"/>
            <a:ext cx="46783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Objeciones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Flashcards + Cierre · 45 min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91174" y="4534098"/>
            <a:ext cx="453617" cy="1905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5741" y="4373562"/>
            <a:ext cx="340213" cy="340221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26" name="Text 24"/>
          <p:cNvSpPr/>
          <p:nvPr/>
        </p:nvSpPr>
        <p:spPr>
          <a:xfrm>
            <a:off x="5982394" y="44018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61475" y="4425454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Viernes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1475" y="4734223"/>
            <a:ext cx="46783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Integral</a:t>
            </a:r>
            <a:endParaRPr lang="en-US" sz="115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Simulacro completo grabado · 45 min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1475" y="5771257"/>
            <a:ext cx="10868745" cy="529431"/>
          </a:xfrm>
          <a:prstGeom prst="roundRect">
            <a:avLst>
              <a:gd name="adj" fmla="val 4284"/>
            </a:avLst>
          </a:prstGeom>
          <a:solidFill>
            <a:srgbClr val="183A13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680" y="5943699"/>
            <a:ext cx="189007" cy="15120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52893" y="5930007"/>
            <a:ext cx="10835706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✅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Meta Final: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Sentirte segura para la primera llamada real sin inventar datos ni presionar al cliente.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2026-08-14T22:53:35Z</dcterms:created>
  <dcterms:modified xsi:type="dcterms:W3CDTF">2026-08-14T22:53:35Z</dcterms:modified>
</cp:coreProperties>
</file>