
<file path=[Content_Types].xml><?xml version="1.0" encoding="utf-8"?>
<Types xmlns="http://schemas.openxmlformats.org/package/2006/content-types">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3" d="100"/>
          <a:sy n="93" d="100"/>
        </p:scale>
        <p:origin x="274"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16151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8869680" y="-1371600"/>
            <a:ext cx="4572000" cy="4572000"/>
          </a:xfrm>
          <a:prstGeom prst="ellipse">
            <a:avLst/>
          </a:prstGeom>
          <a:solidFill>
            <a:srgbClr val="065A82">
              <a:alpha val="60000"/>
            </a:srgbClr>
          </a:solidFill>
          <a:ln/>
        </p:spPr>
        <p:txBody>
          <a:bodyPr/>
          <a:lstStyle/>
          <a:p>
            <a:endParaRPr lang="es-PE"/>
          </a:p>
        </p:txBody>
      </p:sp>
      <p:sp>
        <p:nvSpPr>
          <p:cNvPr id="3" name="Shape 1"/>
          <p:cNvSpPr/>
          <p:nvPr/>
        </p:nvSpPr>
        <p:spPr>
          <a:xfrm>
            <a:off x="-1371600" y="5029200"/>
            <a:ext cx="3657600" cy="3657600"/>
          </a:xfrm>
          <a:prstGeom prst="ellipse">
            <a:avLst/>
          </a:prstGeom>
          <a:solidFill>
            <a:srgbClr val="1C7293">
              <a:alpha val="45000"/>
            </a:srgbClr>
          </a:solidFill>
          <a:ln/>
        </p:spPr>
        <p:txBody>
          <a:bodyPr/>
          <a:lstStyle/>
          <a:p>
            <a:endParaRPr lang="es-PE"/>
          </a:p>
        </p:txBody>
      </p:sp>
      <p:sp>
        <p:nvSpPr>
          <p:cNvPr id="4" name="Text 2"/>
          <p:cNvSpPr/>
          <p:nvPr/>
        </p:nvSpPr>
        <p:spPr>
          <a:xfrm>
            <a:off x="731520" y="2286000"/>
            <a:ext cx="9144000" cy="1005840"/>
          </a:xfrm>
          <a:prstGeom prst="rect">
            <a:avLst/>
          </a:prstGeom>
          <a:noFill/>
          <a:ln/>
        </p:spPr>
        <p:txBody>
          <a:bodyPr wrap="square"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ORASIC </a:t>
            </a:r>
            <a:r>
              <a:rPr lang="en-US" sz="5400" b="1" dirty="0">
                <a:solidFill>
                  <a:srgbClr val="F2A65A"/>
                </a:solidFill>
                <a:latin typeface="Cambria" pitchFamily="34" charset="0"/>
                <a:ea typeface="Cambria" pitchFamily="34" charset="-122"/>
                <a:cs typeface="Cambria" pitchFamily="34" charset="-120"/>
              </a:rPr>
              <a:t>LAB</a:t>
            </a:r>
            <a:endParaRPr lang="en-US" sz="5400" dirty="0"/>
          </a:p>
        </p:txBody>
      </p:sp>
      <p:sp>
        <p:nvSpPr>
          <p:cNvPr id="5" name="Text 3"/>
          <p:cNvSpPr/>
          <p:nvPr/>
        </p:nvSpPr>
        <p:spPr>
          <a:xfrm>
            <a:off x="731520" y="3200400"/>
            <a:ext cx="7315200" cy="548640"/>
          </a:xfrm>
          <a:prstGeom prst="rect">
            <a:avLst/>
          </a:prstGeom>
          <a:noFill/>
          <a:ln/>
        </p:spPr>
        <p:txBody>
          <a:bodyPr wrap="square" rtlCol="0" anchor="ctr"/>
          <a:lstStyle/>
          <a:p>
            <a:pPr marL="0" indent="0">
              <a:buNone/>
            </a:pPr>
            <a:r>
              <a:rPr lang="en-US" sz="2400" i="1" dirty="0">
                <a:solidFill>
                  <a:srgbClr val="F2F2F2"/>
                </a:solidFill>
                <a:latin typeface="Calibri" pitchFamily="34" charset="0"/>
                <a:ea typeface="Calibri" pitchFamily="34" charset="-122"/>
                <a:cs typeface="Calibri" pitchFamily="34" charset="-120"/>
              </a:rPr>
              <a:t>Manual de venta</a:t>
            </a:r>
            <a:endParaRPr lang="en-US" sz="2400" dirty="0"/>
          </a:p>
        </p:txBody>
      </p:sp>
      <p:sp>
        <p:nvSpPr>
          <p:cNvPr id="6" name="Text 4"/>
          <p:cNvSpPr/>
          <p:nvPr/>
        </p:nvSpPr>
        <p:spPr>
          <a:xfrm>
            <a:off x="731520" y="3794760"/>
            <a:ext cx="8686800" cy="457200"/>
          </a:xfrm>
          <a:prstGeom prst="rect">
            <a:avLst/>
          </a:prstGeom>
          <a:noFill/>
          <a:ln/>
        </p:spPr>
        <p:txBody>
          <a:bodyPr wrap="square" rtlCol="0" anchor="ctr"/>
          <a:lstStyle/>
          <a:p>
            <a:pPr marL="0" indent="0">
              <a:buNone/>
            </a:pPr>
            <a:r>
              <a:rPr lang="en-US" sz="1500" dirty="0">
                <a:solidFill>
                  <a:srgbClr val="C7CEDB"/>
                </a:solidFill>
                <a:latin typeface="Calibri" pitchFamily="34" charset="0"/>
                <a:ea typeface="Calibri" pitchFamily="34" charset="-122"/>
                <a:cs typeface="Calibri" pitchFamily="34" charset="-120"/>
              </a:rPr>
              <a:t>La historia que le vas a contar al cliente — y cómo responder cuando pregunte</a:t>
            </a:r>
            <a:endParaRPr lang="en-US" sz="1500" dirty="0"/>
          </a:p>
        </p:txBody>
      </p:sp>
      <p:sp>
        <p:nvSpPr>
          <p:cNvPr id="7" name="Text 5"/>
          <p:cNvSpPr/>
          <p:nvPr/>
        </p:nvSpPr>
        <p:spPr>
          <a:xfrm>
            <a:off x="731520" y="6126480"/>
            <a:ext cx="7315200" cy="365760"/>
          </a:xfrm>
          <a:prstGeom prst="rect">
            <a:avLst/>
          </a:prstGeom>
          <a:noFill/>
          <a:ln/>
        </p:spPr>
        <p:txBody>
          <a:bodyPr wrap="square" rtlCol="0" anchor="ctr"/>
          <a:lstStyle/>
          <a:p>
            <a:pPr marL="0" indent="0">
              <a:buNone/>
            </a:pPr>
            <a:r>
              <a:rPr lang="en-US" sz="1100" dirty="0">
                <a:solidFill>
                  <a:srgbClr val="8891A3"/>
                </a:solidFill>
                <a:latin typeface="Calibri" pitchFamily="34" charset="0"/>
                <a:ea typeface="Calibri" pitchFamily="34" charset="-122"/>
                <a:cs typeface="Calibri" pitchFamily="34" charset="-120"/>
              </a:rPr>
              <a:t>Para uso interno del equipo comercial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ESCENA 1 — EL PROBLEMA</a:t>
            </a:r>
            <a:endParaRPr lang="en-US" sz="1300" dirty="0"/>
          </a:p>
        </p:txBody>
      </p:sp>
      <p:sp>
        <p:nvSpPr>
          <p:cNvPr id="3" name="Text 1"/>
          <p:cNvSpPr/>
          <p:nvPr/>
        </p:nvSpPr>
        <p:spPr>
          <a:xfrm>
            <a:off x="548640" y="822960"/>
            <a:ext cx="10515600" cy="822960"/>
          </a:xfrm>
          <a:prstGeom prst="rect">
            <a:avLst/>
          </a:prstGeom>
          <a:noFill/>
          <a:ln/>
        </p:spPr>
        <p:txBody>
          <a:bodyPr wrap="square" rtlCol="0" anchor="ctr"/>
          <a:lstStyle/>
          <a:p>
            <a:pPr marL="0" indent="0">
              <a:buNone/>
            </a:pPr>
            <a:r>
              <a:rPr lang="en-US" sz="2600" b="1" dirty="0">
                <a:solidFill>
                  <a:srgbClr val="1A1A2E"/>
                </a:solidFill>
                <a:latin typeface="Cambria" pitchFamily="34" charset="0"/>
                <a:ea typeface="Cambria" pitchFamily="34" charset="-122"/>
                <a:cs typeface="Cambria" pitchFamily="34" charset="-120"/>
              </a:rPr>
              <a:t>Todos los días, un negocio pierde una venta sin darse cuenta.</a:t>
            </a:r>
            <a:endParaRPr lang="en-US" sz="2600" dirty="0"/>
          </a:p>
        </p:txBody>
      </p:sp>
      <p:sp>
        <p:nvSpPr>
          <p:cNvPr id="4" name="Shape 2"/>
          <p:cNvSpPr/>
          <p:nvPr/>
        </p:nvSpPr>
        <p:spPr>
          <a:xfrm>
            <a:off x="548640" y="1920240"/>
            <a:ext cx="5394960" cy="1920240"/>
          </a:xfrm>
          <a:prstGeom prst="roundRect">
            <a:avLst>
              <a:gd name="adj" fmla="val 5714"/>
            </a:avLst>
          </a:prstGeom>
          <a:solidFill>
            <a:srgbClr val="F2F2F2"/>
          </a:solidFill>
          <a:ln/>
        </p:spPr>
        <p:txBody>
          <a:bodyPr/>
          <a:lstStyle/>
          <a:p>
            <a:endParaRPr lang="es-PE"/>
          </a:p>
        </p:txBody>
      </p:sp>
      <p:sp>
        <p:nvSpPr>
          <p:cNvPr id="5" name="Shape 3"/>
          <p:cNvSpPr/>
          <p:nvPr/>
        </p:nvSpPr>
        <p:spPr>
          <a:xfrm>
            <a:off x="868680" y="2240280"/>
            <a:ext cx="502920" cy="502920"/>
          </a:xfrm>
          <a:prstGeom prst="ellipse">
            <a:avLst/>
          </a:prstGeom>
          <a:solidFill>
            <a:srgbClr val="065A82"/>
          </a:solidFill>
          <a:ln/>
        </p:spPr>
        <p:txBody>
          <a:bodyPr/>
          <a:lstStyle/>
          <a:p>
            <a:endParaRPr lang="es-PE"/>
          </a:p>
        </p:txBody>
      </p:sp>
      <p:sp>
        <p:nvSpPr>
          <p:cNvPr id="6" name="Text 4"/>
          <p:cNvSpPr/>
          <p:nvPr/>
        </p:nvSpPr>
        <p:spPr>
          <a:xfrm>
            <a:off x="868680" y="2240280"/>
            <a:ext cx="502920" cy="5029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Text 5"/>
          <p:cNvSpPr/>
          <p:nvPr/>
        </p:nvSpPr>
        <p:spPr>
          <a:xfrm>
            <a:off x="1554480" y="2194560"/>
            <a:ext cx="4114800" cy="457200"/>
          </a:xfrm>
          <a:prstGeom prst="rect">
            <a:avLst/>
          </a:prstGeom>
          <a:noFill/>
          <a:ln/>
        </p:spPr>
        <p:txBody>
          <a:bodyPr wrap="square" rtlCol="0" anchor="ctr"/>
          <a:lstStyle/>
          <a:p>
            <a:pPr marL="0" indent="0">
              <a:buNone/>
            </a:pPr>
            <a:r>
              <a:rPr lang="en-US" sz="1700" b="1" dirty="0">
                <a:solidFill>
                  <a:srgbClr val="1A1A2E"/>
                </a:solidFill>
                <a:latin typeface="Calibri" pitchFamily="34" charset="0"/>
                <a:ea typeface="Calibri" pitchFamily="34" charset="-122"/>
                <a:cs typeface="Calibri" pitchFamily="34" charset="-120"/>
              </a:rPr>
              <a:t>Citas y pedidos por WhatsApp</a:t>
            </a:r>
            <a:endParaRPr lang="en-US" sz="1700" dirty="0"/>
          </a:p>
        </p:txBody>
      </p:sp>
      <p:sp>
        <p:nvSpPr>
          <p:cNvPr id="8" name="Text 6"/>
          <p:cNvSpPr/>
          <p:nvPr/>
        </p:nvSpPr>
        <p:spPr>
          <a:xfrm>
            <a:off x="1554480" y="2651760"/>
            <a:ext cx="4114800" cy="1005840"/>
          </a:xfrm>
          <a:prstGeom prst="rect">
            <a:avLst/>
          </a:prstGeom>
          <a:noFill/>
          <a:ln/>
        </p:spPr>
        <p:txBody>
          <a:bodyPr wrap="square" rtlCol="0" anchor="ctr"/>
          <a:lstStyle/>
          <a:p>
            <a:pPr marL="0" indent="0">
              <a:buNone/>
            </a:pPr>
            <a:r>
              <a:rPr lang="en-US" sz="1300" dirty="0">
                <a:solidFill>
                  <a:srgbClr val="5B6472"/>
                </a:solidFill>
                <a:latin typeface="Calibri" pitchFamily="34" charset="0"/>
                <a:ea typeface="Calibri" pitchFamily="34" charset="-122"/>
                <a:cs typeface="Calibri" pitchFamily="34" charset="-120"/>
              </a:rPr>
              <a:t>Mensajes que se pierden, horarios duplicados, sin seguimiento real.</a:t>
            </a:r>
            <a:endParaRPr lang="en-US" sz="1300" dirty="0"/>
          </a:p>
        </p:txBody>
      </p:sp>
      <p:sp>
        <p:nvSpPr>
          <p:cNvPr id="9" name="Shape 7"/>
          <p:cNvSpPr/>
          <p:nvPr/>
        </p:nvSpPr>
        <p:spPr>
          <a:xfrm>
            <a:off x="6263640" y="1920240"/>
            <a:ext cx="5394960" cy="1920240"/>
          </a:xfrm>
          <a:prstGeom prst="roundRect">
            <a:avLst>
              <a:gd name="adj" fmla="val 5714"/>
            </a:avLst>
          </a:prstGeom>
          <a:solidFill>
            <a:srgbClr val="F2F2F2"/>
          </a:solidFill>
          <a:ln/>
        </p:spPr>
        <p:txBody>
          <a:bodyPr/>
          <a:lstStyle/>
          <a:p>
            <a:endParaRPr lang="es-PE"/>
          </a:p>
        </p:txBody>
      </p:sp>
      <p:sp>
        <p:nvSpPr>
          <p:cNvPr id="10" name="Shape 8"/>
          <p:cNvSpPr/>
          <p:nvPr/>
        </p:nvSpPr>
        <p:spPr>
          <a:xfrm>
            <a:off x="6583680" y="2240280"/>
            <a:ext cx="502920" cy="502920"/>
          </a:xfrm>
          <a:prstGeom prst="ellipse">
            <a:avLst/>
          </a:prstGeom>
          <a:solidFill>
            <a:srgbClr val="065A82"/>
          </a:solidFill>
          <a:ln/>
        </p:spPr>
        <p:txBody>
          <a:bodyPr/>
          <a:lstStyle/>
          <a:p>
            <a:endParaRPr lang="es-PE"/>
          </a:p>
        </p:txBody>
      </p:sp>
      <p:sp>
        <p:nvSpPr>
          <p:cNvPr id="11" name="Text 9"/>
          <p:cNvSpPr/>
          <p:nvPr/>
        </p:nvSpPr>
        <p:spPr>
          <a:xfrm>
            <a:off x="6583680" y="2240280"/>
            <a:ext cx="502920" cy="5029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2" name="Text 10"/>
          <p:cNvSpPr/>
          <p:nvPr/>
        </p:nvSpPr>
        <p:spPr>
          <a:xfrm>
            <a:off x="7269480" y="2194560"/>
            <a:ext cx="4114800" cy="457200"/>
          </a:xfrm>
          <a:prstGeom prst="rect">
            <a:avLst/>
          </a:prstGeom>
          <a:noFill/>
          <a:ln/>
        </p:spPr>
        <p:txBody>
          <a:bodyPr wrap="square" rtlCol="0" anchor="ctr"/>
          <a:lstStyle/>
          <a:p>
            <a:pPr marL="0" indent="0">
              <a:buNone/>
            </a:pPr>
            <a:r>
              <a:rPr lang="en-US" sz="1700" b="1" dirty="0">
                <a:solidFill>
                  <a:srgbClr val="1A1A2E"/>
                </a:solidFill>
                <a:latin typeface="Calibri" pitchFamily="34" charset="0"/>
                <a:ea typeface="Calibri" pitchFamily="34" charset="-122"/>
                <a:cs typeface="Calibri" pitchFamily="34" charset="-120"/>
              </a:rPr>
              <a:t>Cero presencia digital</a:t>
            </a:r>
            <a:endParaRPr lang="en-US" sz="1700" dirty="0"/>
          </a:p>
        </p:txBody>
      </p:sp>
      <p:sp>
        <p:nvSpPr>
          <p:cNvPr id="13" name="Text 11"/>
          <p:cNvSpPr/>
          <p:nvPr/>
        </p:nvSpPr>
        <p:spPr>
          <a:xfrm>
            <a:off x="7269480" y="2651760"/>
            <a:ext cx="4114800" cy="1005840"/>
          </a:xfrm>
          <a:prstGeom prst="rect">
            <a:avLst/>
          </a:prstGeom>
          <a:noFill/>
          <a:ln/>
        </p:spPr>
        <p:txBody>
          <a:bodyPr wrap="square" rtlCol="0" anchor="ctr"/>
          <a:lstStyle/>
          <a:p>
            <a:pPr marL="0" indent="0">
              <a:buNone/>
            </a:pPr>
            <a:r>
              <a:rPr lang="en-US" sz="1300" dirty="0">
                <a:solidFill>
                  <a:srgbClr val="5B6472"/>
                </a:solidFill>
                <a:latin typeface="Calibri" pitchFamily="34" charset="0"/>
                <a:ea typeface="Calibri" pitchFamily="34" charset="-122"/>
                <a:cs typeface="Calibri" pitchFamily="34" charset="-120"/>
              </a:rPr>
              <a:t>Sin app o landing propia, cada cliente nuevo depende 100% del boca a boca.</a:t>
            </a:r>
            <a:endParaRPr lang="en-US" sz="1300" dirty="0"/>
          </a:p>
        </p:txBody>
      </p:sp>
      <p:sp>
        <p:nvSpPr>
          <p:cNvPr id="14" name="Shape 12"/>
          <p:cNvSpPr/>
          <p:nvPr/>
        </p:nvSpPr>
        <p:spPr>
          <a:xfrm>
            <a:off x="548640" y="4160520"/>
            <a:ext cx="5394960" cy="1920240"/>
          </a:xfrm>
          <a:prstGeom prst="roundRect">
            <a:avLst>
              <a:gd name="adj" fmla="val 5714"/>
            </a:avLst>
          </a:prstGeom>
          <a:solidFill>
            <a:srgbClr val="F2F2F2"/>
          </a:solidFill>
          <a:ln/>
        </p:spPr>
        <p:txBody>
          <a:bodyPr/>
          <a:lstStyle/>
          <a:p>
            <a:endParaRPr lang="es-PE"/>
          </a:p>
        </p:txBody>
      </p:sp>
      <p:sp>
        <p:nvSpPr>
          <p:cNvPr id="15" name="Shape 13"/>
          <p:cNvSpPr/>
          <p:nvPr/>
        </p:nvSpPr>
        <p:spPr>
          <a:xfrm>
            <a:off x="868680" y="4480560"/>
            <a:ext cx="502920" cy="502920"/>
          </a:xfrm>
          <a:prstGeom prst="ellipse">
            <a:avLst/>
          </a:prstGeom>
          <a:solidFill>
            <a:srgbClr val="065A82"/>
          </a:solidFill>
          <a:ln/>
        </p:spPr>
        <p:txBody>
          <a:bodyPr/>
          <a:lstStyle/>
          <a:p>
            <a:endParaRPr lang="es-PE"/>
          </a:p>
        </p:txBody>
      </p:sp>
      <p:sp>
        <p:nvSpPr>
          <p:cNvPr id="16" name="Text 14"/>
          <p:cNvSpPr/>
          <p:nvPr/>
        </p:nvSpPr>
        <p:spPr>
          <a:xfrm>
            <a:off x="868680" y="4480560"/>
            <a:ext cx="502920" cy="5029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7" name="Text 15"/>
          <p:cNvSpPr/>
          <p:nvPr/>
        </p:nvSpPr>
        <p:spPr>
          <a:xfrm>
            <a:off x="1554480" y="4434840"/>
            <a:ext cx="4114800" cy="457200"/>
          </a:xfrm>
          <a:prstGeom prst="rect">
            <a:avLst/>
          </a:prstGeom>
          <a:noFill/>
          <a:ln/>
        </p:spPr>
        <p:txBody>
          <a:bodyPr wrap="square" rtlCol="0" anchor="ctr"/>
          <a:lstStyle/>
          <a:p>
            <a:pPr marL="0" indent="0">
              <a:buNone/>
            </a:pPr>
            <a:r>
              <a:rPr lang="en-US" sz="1700" b="1" dirty="0">
                <a:solidFill>
                  <a:srgbClr val="1A1A2E"/>
                </a:solidFill>
                <a:latin typeface="Calibri" pitchFamily="34" charset="0"/>
                <a:ea typeface="Calibri" pitchFamily="34" charset="-122"/>
                <a:cs typeface="Calibri" pitchFamily="34" charset="-120"/>
              </a:rPr>
              <a:t>Datos dispersos</a:t>
            </a:r>
            <a:endParaRPr lang="en-US" sz="1700" dirty="0"/>
          </a:p>
        </p:txBody>
      </p:sp>
      <p:sp>
        <p:nvSpPr>
          <p:cNvPr id="18" name="Text 16"/>
          <p:cNvSpPr/>
          <p:nvPr/>
        </p:nvSpPr>
        <p:spPr>
          <a:xfrm>
            <a:off x="1554480" y="4892040"/>
            <a:ext cx="4114800" cy="1005840"/>
          </a:xfrm>
          <a:prstGeom prst="rect">
            <a:avLst/>
          </a:prstGeom>
          <a:noFill/>
          <a:ln/>
        </p:spPr>
        <p:txBody>
          <a:bodyPr wrap="square" rtlCol="0" anchor="ctr"/>
          <a:lstStyle/>
          <a:p>
            <a:pPr marL="0" indent="0">
              <a:buNone/>
            </a:pPr>
            <a:r>
              <a:rPr lang="en-US" sz="1300" dirty="0">
                <a:solidFill>
                  <a:srgbClr val="5B6472"/>
                </a:solidFill>
                <a:latin typeface="Calibri" pitchFamily="34" charset="0"/>
                <a:ea typeface="Calibri" pitchFamily="34" charset="-122"/>
                <a:cs typeface="Calibri" pitchFamily="34" charset="-120"/>
              </a:rPr>
              <a:t>Clientes en cuaderno, ventas en Excel, fotos en el celular — nada conectado.</a:t>
            </a:r>
            <a:endParaRPr lang="en-US" sz="1300" dirty="0"/>
          </a:p>
        </p:txBody>
      </p:sp>
      <p:sp>
        <p:nvSpPr>
          <p:cNvPr id="19" name="Shape 17"/>
          <p:cNvSpPr/>
          <p:nvPr/>
        </p:nvSpPr>
        <p:spPr>
          <a:xfrm>
            <a:off x="6263640" y="4160520"/>
            <a:ext cx="5394960" cy="1920240"/>
          </a:xfrm>
          <a:prstGeom prst="roundRect">
            <a:avLst>
              <a:gd name="adj" fmla="val 5714"/>
            </a:avLst>
          </a:prstGeom>
          <a:solidFill>
            <a:srgbClr val="F2F2F2"/>
          </a:solidFill>
          <a:ln/>
        </p:spPr>
        <p:txBody>
          <a:bodyPr/>
          <a:lstStyle/>
          <a:p>
            <a:endParaRPr lang="es-PE"/>
          </a:p>
        </p:txBody>
      </p:sp>
      <p:sp>
        <p:nvSpPr>
          <p:cNvPr id="20" name="Shape 18"/>
          <p:cNvSpPr/>
          <p:nvPr/>
        </p:nvSpPr>
        <p:spPr>
          <a:xfrm>
            <a:off x="6583680" y="4480560"/>
            <a:ext cx="502920" cy="502920"/>
          </a:xfrm>
          <a:prstGeom prst="ellipse">
            <a:avLst/>
          </a:prstGeom>
          <a:solidFill>
            <a:srgbClr val="065A82"/>
          </a:solidFill>
          <a:ln/>
        </p:spPr>
        <p:txBody>
          <a:bodyPr/>
          <a:lstStyle/>
          <a:p>
            <a:endParaRPr lang="es-PE"/>
          </a:p>
        </p:txBody>
      </p:sp>
      <p:sp>
        <p:nvSpPr>
          <p:cNvPr id="21" name="Text 19"/>
          <p:cNvSpPr/>
          <p:nvPr/>
        </p:nvSpPr>
        <p:spPr>
          <a:xfrm>
            <a:off x="6583680" y="4480560"/>
            <a:ext cx="502920" cy="5029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2" name="Text 20"/>
          <p:cNvSpPr/>
          <p:nvPr/>
        </p:nvSpPr>
        <p:spPr>
          <a:xfrm>
            <a:off x="7269480" y="4434840"/>
            <a:ext cx="4114800" cy="457200"/>
          </a:xfrm>
          <a:prstGeom prst="rect">
            <a:avLst/>
          </a:prstGeom>
          <a:noFill/>
          <a:ln/>
        </p:spPr>
        <p:txBody>
          <a:bodyPr wrap="square" rtlCol="0" anchor="ctr"/>
          <a:lstStyle/>
          <a:p>
            <a:pPr marL="0" indent="0">
              <a:buNone/>
            </a:pPr>
            <a:r>
              <a:rPr lang="en-US" sz="1700" b="1" dirty="0">
                <a:solidFill>
                  <a:srgbClr val="1A1A2E"/>
                </a:solidFill>
                <a:latin typeface="Calibri" pitchFamily="34" charset="0"/>
                <a:ea typeface="Calibri" pitchFamily="34" charset="-122"/>
                <a:cs typeface="Calibri" pitchFamily="34" charset="-120"/>
              </a:rPr>
              <a:t>Presupuesto de agencia</a:t>
            </a:r>
            <a:endParaRPr lang="en-US" sz="1700" dirty="0"/>
          </a:p>
        </p:txBody>
      </p:sp>
      <p:sp>
        <p:nvSpPr>
          <p:cNvPr id="23" name="Text 21"/>
          <p:cNvSpPr/>
          <p:nvPr/>
        </p:nvSpPr>
        <p:spPr>
          <a:xfrm>
            <a:off x="7269480" y="4892040"/>
            <a:ext cx="4114800" cy="1005840"/>
          </a:xfrm>
          <a:prstGeom prst="rect">
            <a:avLst/>
          </a:prstGeom>
          <a:noFill/>
          <a:ln/>
        </p:spPr>
        <p:txBody>
          <a:bodyPr wrap="square" rtlCol="0" anchor="ctr"/>
          <a:lstStyle/>
          <a:p>
            <a:pPr marL="0" indent="0">
              <a:buNone/>
            </a:pPr>
            <a:r>
              <a:rPr lang="en-US" sz="1300" dirty="0">
                <a:solidFill>
                  <a:srgbClr val="5B6472"/>
                </a:solidFill>
                <a:latin typeface="Calibri" pitchFamily="34" charset="0"/>
                <a:ea typeface="Calibri" pitchFamily="34" charset="-122"/>
                <a:cs typeface="Calibri" pitchFamily="34" charset="-120"/>
              </a:rPr>
              <a:t>Cree que una app a medida cuesta meses y miles de dólares. Ya no.</a:t>
            </a:r>
            <a:endParaRPr lang="en-US" sz="1300" dirty="0"/>
          </a:p>
        </p:txBody>
      </p:sp>
      <p:sp>
        <p:nvSpPr>
          <p:cNvPr id="24" name="Text 22"/>
          <p:cNvSpPr/>
          <p:nvPr/>
        </p:nvSpPr>
        <p:spPr>
          <a:xfrm>
            <a:off x="11548872" y="6400800"/>
            <a:ext cx="457200" cy="320040"/>
          </a:xfrm>
          <a:prstGeom prst="rect">
            <a:avLst/>
          </a:prstGeom>
          <a:noFill/>
          <a:ln/>
        </p:spPr>
        <p:txBody>
          <a:bodyPr wrap="square" rtlCol="0" anchor="ctr"/>
          <a:lstStyle/>
          <a:p>
            <a:pPr marL="0" indent="0" algn="r">
              <a:buNone/>
            </a:pPr>
            <a:r>
              <a:rPr lang="en-US" sz="1100" dirty="0">
                <a:solidFill>
                  <a:srgbClr val="AAB4BE"/>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0" y="3108960"/>
            <a:ext cx="12188952" cy="18288"/>
          </a:xfrm>
          <a:prstGeom prst="rect">
            <a:avLst/>
          </a:prstGeom>
          <a:solidFill>
            <a:srgbClr val="3A4270"/>
          </a:solidFill>
          <a:ln/>
        </p:spPr>
        <p:txBody>
          <a:bodyPr/>
          <a:lstStyle/>
          <a:p>
            <a:endParaRPr lang="es-PE"/>
          </a:p>
        </p:txBody>
      </p:sp>
      <p:sp>
        <p:nvSpPr>
          <p:cNvPr id="3" name="Text 1"/>
          <p:cNvSpPr/>
          <p:nvPr/>
        </p:nvSpPr>
        <p:spPr>
          <a:xfrm>
            <a:off x="914400" y="2194560"/>
            <a:ext cx="10058400" cy="91440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Ahí es donde entra ORASIC Lab.</a:t>
            </a:r>
            <a:endParaRPr lang="en-US" sz="3400" dirty="0"/>
          </a:p>
        </p:txBody>
      </p:sp>
      <p:sp>
        <p:nvSpPr>
          <p:cNvPr id="4" name="Text 2"/>
          <p:cNvSpPr/>
          <p:nvPr/>
        </p:nvSpPr>
        <p:spPr>
          <a:xfrm>
            <a:off x="914400" y="3383280"/>
            <a:ext cx="9875520" cy="1463040"/>
          </a:xfrm>
          <a:prstGeom prst="rect">
            <a:avLst/>
          </a:prstGeom>
          <a:noFill/>
          <a:ln/>
        </p:spPr>
        <p:txBody>
          <a:bodyPr wrap="square" rtlCol="0" anchor="ctr"/>
          <a:lstStyle/>
          <a:p>
            <a:pPr marL="0" indent="0">
              <a:buNone/>
            </a:pPr>
            <a:r>
              <a:rPr lang="en-US" sz="1700" i="1" dirty="0">
                <a:solidFill>
                  <a:srgbClr val="C7CEDB"/>
                </a:solidFill>
                <a:latin typeface="Calibri" pitchFamily="34" charset="0"/>
                <a:ea typeface="Calibri" pitchFamily="34" charset="-122"/>
                <a:cs typeface="Calibri" pitchFamily="34" charset="-120"/>
              </a:rPr>
              <a:t>“Diseñamos y construimos apps a medida con IA — reservas, gestión de clientes, dashboards y automatización por WhatsApp — para negocios que quieren dejar el WhatsApp desordenado y el Excel atrás.”</a:t>
            </a:r>
            <a:endParaRPr lang="en-US" sz="1700" dirty="0"/>
          </a:p>
        </p:txBody>
      </p:sp>
      <p:sp>
        <p:nvSpPr>
          <p:cNvPr id="5" name="Text 3"/>
          <p:cNvSpPr/>
          <p:nvPr/>
        </p:nvSpPr>
        <p:spPr>
          <a:xfrm>
            <a:off x="914400" y="5120640"/>
            <a:ext cx="9144000" cy="457200"/>
          </a:xfrm>
          <a:prstGeom prst="rect">
            <a:avLst/>
          </a:prstGeom>
          <a:noFill/>
          <a:ln/>
        </p:spPr>
        <p:txBody>
          <a:bodyPr wrap="square" rtlCol="0" anchor="ctr"/>
          <a:lstStyle/>
          <a:p>
            <a:pPr marL="0" indent="0">
              <a:buNone/>
            </a:pPr>
            <a:r>
              <a:rPr lang="en-US" sz="1600" b="1" dirty="0">
                <a:solidFill>
                  <a:srgbClr val="F2A65A"/>
                </a:solidFill>
                <a:latin typeface="Calibri" pitchFamily="34" charset="0"/>
                <a:ea typeface="Calibri" pitchFamily="34" charset="-122"/>
                <a:cs typeface="Calibri" pitchFamily="34" charset="-120"/>
              </a:rPr>
              <a:t>Frase eje: “Tu negocio, hecho aplicación.”</a:t>
            </a:r>
            <a:endParaRPr lang="en-US" sz="1600" dirty="0"/>
          </a:p>
        </p:txBody>
      </p:sp>
      <p:sp>
        <p:nvSpPr>
          <p:cNvPr id="6" name="Text 4"/>
          <p:cNvSpPr/>
          <p:nvPr/>
        </p:nvSpPr>
        <p:spPr>
          <a:xfrm>
            <a:off x="11548872" y="6400800"/>
            <a:ext cx="457200" cy="320040"/>
          </a:xfrm>
          <a:prstGeom prst="rect">
            <a:avLst/>
          </a:prstGeom>
          <a:noFill/>
          <a:ln/>
        </p:spPr>
        <p:txBody>
          <a:bodyPr wrap="square" rtlCol="0" anchor="ctr"/>
          <a:lstStyle/>
          <a:p>
            <a:pPr marL="0" indent="0" algn="r">
              <a:buNone/>
            </a:pPr>
            <a:r>
              <a:rPr lang="en-US" sz="1100" dirty="0">
                <a:solidFill>
                  <a:srgbClr val="9AA5B1"/>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ESCENA 2 — LA TRAYECTORIA HABLA</a:t>
            </a:r>
            <a:endParaRPr lang="en-US" sz="1300" dirty="0"/>
          </a:p>
        </p:txBody>
      </p:sp>
      <p:sp>
        <p:nvSpPr>
          <p:cNvPr id="3" name="Text 1"/>
          <p:cNvSpPr/>
          <p:nvPr/>
        </p:nvSpPr>
        <p:spPr>
          <a:xfrm>
            <a:off x="548640" y="822960"/>
            <a:ext cx="10058400" cy="640080"/>
          </a:xfrm>
          <a:prstGeom prst="rect">
            <a:avLst/>
          </a:prstGeom>
          <a:noFill/>
          <a:ln/>
        </p:spPr>
        <p:txBody>
          <a:bodyPr wrap="square" rtlCol="0" anchor="ctr"/>
          <a:lstStyle/>
          <a:p>
            <a:pPr marL="0" indent="0">
              <a:buNone/>
            </a:pPr>
            <a:r>
              <a:rPr lang="en-US" sz="2600" b="1" dirty="0">
                <a:solidFill>
                  <a:srgbClr val="1A1A2E"/>
                </a:solidFill>
                <a:latin typeface="Cambria" pitchFamily="34" charset="0"/>
                <a:ea typeface="Cambria" pitchFamily="34" charset="-122"/>
                <a:cs typeface="Cambria" pitchFamily="34" charset="-120"/>
              </a:rPr>
              <a:t>Cifras que respaldan la conversación</a:t>
            </a:r>
            <a:endParaRPr lang="en-US" sz="2600" dirty="0"/>
          </a:p>
        </p:txBody>
      </p:sp>
      <p:sp>
        <p:nvSpPr>
          <p:cNvPr id="4" name="Shape 2"/>
          <p:cNvSpPr/>
          <p:nvPr/>
        </p:nvSpPr>
        <p:spPr>
          <a:xfrm>
            <a:off x="548640" y="2103120"/>
            <a:ext cx="2514600" cy="2377440"/>
          </a:xfrm>
          <a:prstGeom prst="roundRect">
            <a:avLst>
              <a:gd name="adj" fmla="val 5385"/>
            </a:avLst>
          </a:prstGeom>
          <a:solidFill>
            <a:srgbClr val="065A82"/>
          </a:solidFill>
          <a:ln/>
        </p:spPr>
        <p:txBody>
          <a:bodyPr/>
          <a:lstStyle/>
          <a:p>
            <a:endParaRPr lang="es-PE"/>
          </a:p>
        </p:txBody>
      </p:sp>
      <p:sp>
        <p:nvSpPr>
          <p:cNvPr id="5" name="Text 3"/>
          <p:cNvSpPr/>
          <p:nvPr/>
        </p:nvSpPr>
        <p:spPr>
          <a:xfrm>
            <a:off x="548640" y="2377440"/>
            <a:ext cx="2514600" cy="1005840"/>
          </a:xfrm>
          <a:prstGeom prst="rect">
            <a:avLst/>
          </a:prstGeom>
          <a:noFill/>
          <a:ln/>
        </p:spPr>
        <p:txBody>
          <a:bodyPr wrap="square" rtlCol="0" anchor="ctr"/>
          <a:lstStyle/>
          <a:p>
            <a:pPr marL="0" indent="0" algn="ctr">
              <a:buNone/>
            </a:pPr>
            <a:r>
              <a:rPr lang="en-US" sz="4400" b="1" dirty="0">
                <a:solidFill>
                  <a:srgbClr val="F2A65A"/>
                </a:solidFill>
                <a:latin typeface="Calibri" pitchFamily="34" charset="0"/>
                <a:ea typeface="Calibri" pitchFamily="34" charset="-122"/>
                <a:cs typeface="Calibri" pitchFamily="34" charset="-120"/>
              </a:rPr>
              <a:t>100+</a:t>
            </a:r>
            <a:endParaRPr lang="en-US" sz="4400" dirty="0"/>
          </a:p>
        </p:txBody>
      </p:sp>
      <p:sp>
        <p:nvSpPr>
          <p:cNvPr id="6" name="Text 4"/>
          <p:cNvSpPr/>
          <p:nvPr/>
        </p:nvSpPr>
        <p:spPr>
          <a:xfrm>
            <a:off x="731520" y="3429000"/>
            <a:ext cx="2148840" cy="822960"/>
          </a:xfrm>
          <a:prstGeom prst="rect">
            <a:avLst/>
          </a:prstGeom>
          <a:noFill/>
          <a:ln/>
        </p:spPr>
        <p:txBody>
          <a:bodyPr wrap="square" rtlCol="0" anchor="ctr"/>
          <a:lstStyle/>
          <a:p>
            <a:pPr marL="0" indent="0" algn="ctr">
              <a:buNone/>
            </a:pPr>
            <a:r>
              <a:rPr lang="en-US" sz="1400" dirty="0">
                <a:solidFill>
                  <a:srgbClr val="F2F2F2"/>
                </a:solidFill>
                <a:latin typeface="Calibri" pitchFamily="34" charset="0"/>
                <a:ea typeface="Calibri" pitchFamily="34" charset="-122"/>
                <a:cs typeface="Calibri" pitchFamily="34" charset="-120"/>
              </a:rPr>
              <a:t>aplicaciones</a:t>
            </a:r>
            <a:endParaRPr lang="en-US" sz="1400" dirty="0"/>
          </a:p>
          <a:p>
            <a:pPr marL="0" indent="0" algn="ctr">
              <a:buNone/>
            </a:pPr>
            <a:r>
              <a:rPr lang="en-US" sz="1400" dirty="0">
                <a:solidFill>
                  <a:srgbClr val="F2F2F2"/>
                </a:solidFill>
                <a:latin typeface="Calibri" pitchFamily="34" charset="0"/>
                <a:ea typeface="Calibri" pitchFamily="34" charset="-122"/>
                <a:cs typeface="Calibri" pitchFamily="34" charset="-120"/>
              </a:rPr>
              <a:t>construidas</a:t>
            </a:r>
            <a:endParaRPr lang="en-US" sz="1400" dirty="0"/>
          </a:p>
        </p:txBody>
      </p:sp>
      <p:sp>
        <p:nvSpPr>
          <p:cNvPr id="7" name="Shape 5"/>
          <p:cNvSpPr/>
          <p:nvPr/>
        </p:nvSpPr>
        <p:spPr>
          <a:xfrm>
            <a:off x="3337560" y="2103120"/>
            <a:ext cx="2514600" cy="2377440"/>
          </a:xfrm>
          <a:prstGeom prst="roundRect">
            <a:avLst>
              <a:gd name="adj" fmla="val 5385"/>
            </a:avLst>
          </a:prstGeom>
          <a:solidFill>
            <a:srgbClr val="065A82"/>
          </a:solidFill>
          <a:ln/>
        </p:spPr>
        <p:txBody>
          <a:bodyPr/>
          <a:lstStyle/>
          <a:p>
            <a:endParaRPr lang="es-PE"/>
          </a:p>
        </p:txBody>
      </p:sp>
      <p:sp>
        <p:nvSpPr>
          <p:cNvPr id="8" name="Text 6"/>
          <p:cNvSpPr/>
          <p:nvPr/>
        </p:nvSpPr>
        <p:spPr>
          <a:xfrm>
            <a:off x="3337560" y="2377440"/>
            <a:ext cx="2514600" cy="1005840"/>
          </a:xfrm>
          <a:prstGeom prst="rect">
            <a:avLst/>
          </a:prstGeom>
          <a:noFill/>
          <a:ln/>
        </p:spPr>
        <p:txBody>
          <a:bodyPr wrap="square" rtlCol="0" anchor="ctr"/>
          <a:lstStyle/>
          <a:p>
            <a:pPr marL="0" indent="0" algn="ctr">
              <a:buNone/>
            </a:pPr>
            <a:r>
              <a:rPr lang="en-US" sz="4400" b="1" dirty="0">
                <a:solidFill>
                  <a:srgbClr val="F2A65A"/>
                </a:solidFill>
                <a:latin typeface="Calibri" pitchFamily="34" charset="0"/>
                <a:ea typeface="Calibri" pitchFamily="34" charset="-122"/>
                <a:cs typeface="Calibri" pitchFamily="34" charset="-120"/>
              </a:rPr>
              <a:t>12</a:t>
            </a:r>
            <a:endParaRPr lang="en-US" sz="4400" dirty="0"/>
          </a:p>
        </p:txBody>
      </p:sp>
      <p:sp>
        <p:nvSpPr>
          <p:cNvPr id="9" name="Text 7"/>
          <p:cNvSpPr/>
          <p:nvPr/>
        </p:nvSpPr>
        <p:spPr>
          <a:xfrm>
            <a:off x="3520440" y="3429000"/>
            <a:ext cx="2148840" cy="822960"/>
          </a:xfrm>
          <a:prstGeom prst="rect">
            <a:avLst/>
          </a:prstGeom>
          <a:noFill/>
          <a:ln/>
        </p:spPr>
        <p:txBody>
          <a:bodyPr wrap="square" rtlCol="0" anchor="ctr"/>
          <a:lstStyle/>
          <a:p>
            <a:pPr marL="0" indent="0" algn="ctr">
              <a:buNone/>
            </a:pPr>
            <a:r>
              <a:rPr lang="en-US" sz="1400" dirty="0">
                <a:solidFill>
                  <a:srgbClr val="F2F2F2"/>
                </a:solidFill>
                <a:latin typeface="Calibri" pitchFamily="34" charset="0"/>
                <a:ea typeface="Calibri" pitchFamily="34" charset="-122"/>
                <a:cs typeface="Calibri" pitchFamily="34" charset="-120"/>
              </a:rPr>
              <a:t>rubros</a:t>
            </a:r>
            <a:endParaRPr lang="en-US" sz="1400" dirty="0"/>
          </a:p>
          <a:p>
            <a:pPr marL="0" indent="0" algn="ctr">
              <a:buNone/>
            </a:pPr>
            <a:r>
              <a:rPr lang="en-US" sz="1400" dirty="0">
                <a:solidFill>
                  <a:srgbClr val="F2F2F2"/>
                </a:solidFill>
                <a:latin typeface="Calibri" pitchFamily="34" charset="0"/>
                <a:ea typeface="Calibri" pitchFamily="34" charset="-122"/>
                <a:cs typeface="Calibri" pitchFamily="34" charset="-120"/>
              </a:rPr>
              <a:t>distintos</a:t>
            </a:r>
            <a:endParaRPr lang="en-US" sz="1400" dirty="0"/>
          </a:p>
        </p:txBody>
      </p:sp>
      <p:sp>
        <p:nvSpPr>
          <p:cNvPr id="10" name="Shape 8"/>
          <p:cNvSpPr/>
          <p:nvPr/>
        </p:nvSpPr>
        <p:spPr>
          <a:xfrm>
            <a:off x="6126480" y="2103120"/>
            <a:ext cx="2514600" cy="2377440"/>
          </a:xfrm>
          <a:prstGeom prst="roundRect">
            <a:avLst>
              <a:gd name="adj" fmla="val 5385"/>
            </a:avLst>
          </a:prstGeom>
          <a:solidFill>
            <a:srgbClr val="065A82"/>
          </a:solidFill>
          <a:ln/>
        </p:spPr>
        <p:txBody>
          <a:bodyPr/>
          <a:lstStyle/>
          <a:p>
            <a:endParaRPr lang="es-PE"/>
          </a:p>
        </p:txBody>
      </p:sp>
      <p:sp>
        <p:nvSpPr>
          <p:cNvPr id="11" name="Text 9"/>
          <p:cNvSpPr/>
          <p:nvPr/>
        </p:nvSpPr>
        <p:spPr>
          <a:xfrm>
            <a:off x="6126480" y="2377440"/>
            <a:ext cx="2514600" cy="1005840"/>
          </a:xfrm>
          <a:prstGeom prst="rect">
            <a:avLst/>
          </a:prstGeom>
          <a:noFill/>
          <a:ln/>
        </p:spPr>
        <p:txBody>
          <a:bodyPr wrap="square" rtlCol="0" anchor="ctr"/>
          <a:lstStyle/>
          <a:p>
            <a:pPr marL="0" indent="0" algn="ctr">
              <a:buNone/>
            </a:pPr>
            <a:r>
              <a:rPr lang="en-US" sz="4400" b="1" dirty="0">
                <a:solidFill>
                  <a:srgbClr val="F2A65A"/>
                </a:solidFill>
                <a:latin typeface="Calibri" pitchFamily="34" charset="0"/>
                <a:ea typeface="Calibri" pitchFamily="34" charset="-122"/>
                <a:cs typeface="Calibri" pitchFamily="34" charset="-120"/>
              </a:rPr>
              <a:t>2</a:t>
            </a:r>
            <a:endParaRPr lang="en-US" sz="4400" dirty="0"/>
          </a:p>
        </p:txBody>
      </p:sp>
      <p:sp>
        <p:nvSpPr>
          <p:cNvPr id="12" name="Text 10"/>
          <p:cNvSpPr/>
          <p:nvPr/>
        </p:nvSpPr>
        <p:spPr>
          <a:xfrm>
            <a:off x="6309360" y="3429000"/>
            <a:ext cx="2148840" cy="822960"/>
          </a:xfrm>
          <a:prstGeom prst="rect">
            <a:avLst/>
          </a:prstGeom>
          <a:noFill/>
          <a:ln/>
        </p:spPr>
        <p:txBody>
          <a:bodyPr wrap="square" rtlCol="0" anchor="ctr"/>
          <a:lstStyle/>
          <a:p>
            <a:pPr marL="0" indent="0" algn="ctr">
              <a:buNone/>
            </a:pPr>
            <a:r>
              <a:rPr lang="en-US" sz="1400" dirty="0">
                <a:solidFill>
                  <a:srgbClr val="F2F2F2"/>
                </a:solidFill>
                <a:latin typeface="Calibri" pitchFamily="34" charset="0"/>
                <a:ea typeface="Calibri" pitchFamily="34" charset="-122"/>
                <a:cs typeface="Calibri" pitchFamily="34" charset="-120"/>
              </a:rPr>
              <a:t>países</a:t>
            </a:r>
            <a:endParaRPr lang="en-US" sz="1400" dirty="0"/>
          </a:p>
          <a:p>
            <a:pPr marL="0" indent="0" algn="ctr">
              <a:buNone/>
            </a:pPr>
            <a:r>
              <a:rPr lang="en-US" sz="1400" dirty="0">
                <a:solidFill>
                  <a:srgbClr val="F2F2F2"/>
                </a:solidFill>
                <a:latin typeface="Calibri" pitchFamily="34" charset="0"/>
                <a:ea typeface="Calibri" pitchFamily="34" charset="-122"/>
                <a:cs typeface="Calibri" pitchFamily="34" charset="-120"/>
              </a:rPr>
              <a:t>(Perú y Colombia)</a:t>
            </a:r>
            <a:endParaRPr lang="en-US" sz="1400" dirty="0"/>
          </a:p>
        </p:txBody>
      </p:sp>
      <p:sp>
        <p:nvSpPr>
          <p:cNvPr id="13" name="Shape 11"/>
          <p:cNvSpPr/>
          <p:nvPr/>
        </p:nvSpPr>
        <p:spPr>
          <a:xfrm>
            <a:off x="8915400" y="2103120"/>
            <a:ext cx="2514600" cy="2377440"/>
          </a:xfrm>
          <a:prstGeom prst="roundRect">
            <a:avLst>
              <a:gd name="adj" fmla="val 5385"/>
            </a:avLst>
          </a:prstGeom>
          <a:solidFill>
            <a:srgbClr val="065A82"/>
          </a:solidFill>
          <a:ln/>
        </p:spPr>
        <p:txBody>
          <a:bodyPr/>
          <a:lstStyle/>
          <a:p>
            <a:endParaRPr lang="es-PE"/>
          </a:p>
        </p:txBody>
      </p:sp>
      <p:sp>
        <p:nvSpPr>
          <p:cNvPr id="14" name="Text 12"/>
          <p:cNvSpPr/>
          <p:nvPr/>
        </p:nvSpPr>
        <p:spPr>
          <a:xfrm>
            <a:off x="8915400" y="2377440"/>
            <a:ext cx="2514600" cy="1005840"/>
          </a:xfrm>
          <a:prstGeom prst="rect">
            <a:avLst/>
          </a:prstGeom>
          <a:noFill/>
          <a:ln/>
        </p:spPr>
        <p:txBody>
          <a:bodyPr wrap="square" rtlCol="0" anchor="ctr"/>
          <a:lstStyle/>
          <a:p>
            <a:pPr marL="0" indent="0" algn="ctr">
              <a:buNone/>
            </a:pPr>
            <a:r>
              <a:rPr lang="en-US" sz="4400" b="1" dirty="0">
                <a:solidFill>
                  <a:srgbClr val="F2A65A"/>
                </a:solidFill>
                <a:latin typeface="Calibri" pitchFamily="34" charset="0"/>
                <a:ea typeface="Calibri" pitchFamily="34" charset="-122"/>
                <a:cs typeface="Calibri" pitchFamily="34" charset="-120"/>
              </a:rPr>
              <a:t>&lt;24h</a:t>
            </a:r>
            <a:endParaRPr lang="en-US" sz="4400" dirty="0"/>
          </a:p>
        </p:txBody>
      </p:sp>
      <p:sp>
        <p:nvSpPr>
          <p:cNvPr id="15" name="Text 13"/>
          <p:cNvSpPr/>
          <p:nvPr/>
        </p:nvSpPr>
        <p:spPr>
          <a:xfrm>
            <a:off x="9098280" y="3429000"/>
            <a:ext cx="2148840" cy="822960"/>
          </a:xfrm>
          <a:prstGeom prst="rect">
            <a:avLst/>
          </a:prstGeom>
          <a:noFill/>
          <a:ln/>
        </p:spPr>
        <p:txBody>
          <a:bodyPr wrap="square" rtlCol="0" anchor="ctr"/>
          <a:lstStyle/>
          <a:p>
            <a:pPr marL="0" indent="0" algn="ctr">
              <a:buNone/>
            </a:pPr>
            <a:r>
              <a:rPr lang="en-US" sz="1400" dirty="0">
                <a:solidFill>
                  <a:srgbClr val="F2F2F2"/>
                </a:solidFill>
                <a:latin typeface="Calibri" pitchFamily="34" charset="0"/>
                <a:ea typeface="Calibri" pitchFamily="34" charset="-122"/>
                <a:cs typeface="Calibri" pitchFamily="34" charset="-120"/>
              </a:rPr>
              <a:t>tiempo de</a:t>
            </a:r>
            <a:endParaRPr lang="en-US" sz="1400" dirty="0"/>
          </a:p>
          <a:p>
            <a:pPr marL="0" indent="0" algn="ctr">
              <a:buNone/>
            </a:pPr>
            <a:r>
              <a:rPr lang="en-US" sz="1400" dirty="0">
                <a:solidFill>
                  <a:srgbClr val="F2F2F2"/>
                </a:solidFill>
                <a:latin typeface="Calibri" pitchFamily="34" charset="0"/>
                <a:ea typeface="Calibri" pitchFamily="34" charset="-122"/>
                <a:cs typeface="Calibri" pitchFamily="34" charset="-120"/>
              </a:rPr>
              <a:t>respuesta</a:t>
            </a:r>
            <a:endParaRPr lang="en-US" sz="1400" dirty="0"/>
          </a:p>
        </p:txBody>
      </p:sp>
      <p:sp>
        <p:nvSpPr>
          <p:cNvPr id="16" name="Text 14"/>
          <p:cNvSpPr/>
          <p:nvPr/>
        </p:nvSpPr>
        <p:spPr>
          <a:xfrm>
            <a:off x="548640" y="4846320"/>
            <a:ext cx="10058400" cy="548640"/>
          </a:xfrm>
          <a:prstGeom prst="rect">
            <a:avLst/>
          </a:prstGeom>
          <a:noFill/>
          <a:ln/>
        </p:spPr>
        <p:txBody>
          <a:bodyPr wrap="square" rtlCol="0" anchor="ctr"/>
          <a:lstStyle/>
          <a:p>
            <a:pPr marL="0" indent="0">
              <a:buNone/>
            </a:pPr>
            <a:r>
              <a:rPr lang="en-US" sz="1200" i="1" dirty="0">
                <a:solidFill>
                  <a:srgbClr val="5B6472"/>
                </a:solidFill>
                <a:latin typeface="Calibri" pitchFamily="34" charset="0"/>
                <a:ea typeface="Calibri" pitchFamily="34" charset="-122"/>
                <a:cs typeface="Calibri" pitchFamily="34" charset="-120"/>
              </a:rPr>
              <a:t>Se pueden mencionar temprano en la conversación para transmitir trayectoria, sin necesidad de dar nombres de clientes si el prospecto no pregunta.</a:t>
            </a:r>
            <a:endParaRPr lang="en-US" sz="1200" dirty="0"/>
          </a:p>
        </p:txBody>
      </p:sp>
      <p:sp>
        <p:nvSpPr>
          <p:cNvPr id="17" name="Text 15"/>
          <p:cNvSpPr/>
          <p:nvPr/>
        </p:nvSpPr>
        <p:spPr>
          <a:xfrm>
            <a:off x="11548872" y="6400800"/>
            <a:ext cx="457200" cy="320040"/>
          </a:xfrm>
          <a:prstGeom prst="rect">
            <a:avLst/>
          </a:prstGeom>
          <a:noFill/>
          <a:ln/>
        </p:spPr>
        <p:txBody>
          <a:bodyPr wrap="square" rtlCol="0" anchor="ctr"/>
          <a:lstStyle/>
          <a:p>
            <a:pPr marL="0" indent="0" algn="r">
              <a:buNone/>
            </a:pPr>
            <a:r>
              <a:rPr lang="en-US" sz="1100" dirty="0">
                <a:solidFill>
                  <a:srgbClr val="AAB4BE"/>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ESCENA 3 — EL CATÁLOGO</a:t>
            </a:r>
            <a:endParaRPr lang="en-US" sz="1300" dirty="0"/>
          </a:p>
        </p:txBody>
      </p:sp>
      <p:sp>
        <p:nvSpPr>
          <p:cNvPr id="3" name="Text 1"/>
          <p:cNvSpPr/>
          <p:nvPr/>
        </p:nvSpPr>
        <p:spPr>
          <a:xfrm>
            <a:off x="548640" y="822960"/>
            <a:ext cx="7315200" cy="640080"/>
          </a:xfrm>
          <a:prstGeom prst="rect">
            <a:avLst/>
          </a:prstGeom>
          <a:noFill/>
          <a:ln/>
        </p:spPr>
        <p:txBody>
          <a:bodyPr wrap="square" rtlCol="0" anchor="ctr"/>
          <a:lstStyle/>
          <a:p>
            <a:pPr marL="0" indent="0">
              <a:buNone/>
            </a:pPr>
            <a:r>
              <a:rPr lang="en-US" sz="2600" b="1" dirty="0">
                <a:solidFill>
                  <a:srgbClr val="1A1A2E"/>
                </a:solidFill>
                <a:latin typeface="Cambria" pitchFamily="34" charset="0"/>
                <a:ea typeface="Cambria" pitchFamily="34" charset="-122"/>
                <a:cs typeface="Cambria" pitchFamily="34" charset="-120"/>
              </a:rPr>
              <a:t>Qué construimos</a:t>
            </a:r>
            <a:endParaRPr lang="en-US" sz="2600" dirty="0"/>
          </a:p>
        </p:txBody>
      </p:sp>
      <p:sp>
        <p:nvSpPr>
          <p:cNvPr id="4" name="Text 2"/>
          <p:cNvSpPr/>
          <p:nvPr/>
        </p:nvSpPr>
        <p:spPr>
          <a:xfrm>
            <a:off x="548640" y="1417320"/>
            <a:ext cx="10058400" cy="457200"/>
          </a:xfrm>
          <a:prstGeom prst="rect">
            <a:avLst/>
          </a:prstGeom>
          <a:noFill/>
          <a:ln/>
        </p:spPr>
        <p:txBody>
          <a:bodyPr wrap="square" rtlCol="0" anchor="ctr"/>
          <a:lstStyle/>
          <a:p>
            <a:pPr marL="0" indent="0">
              <a:buNone/>
            </a:pPr>
            <a:r>
              <a:rPr lang="en-US" sz="1400" dirty="0">
                <a:solidFill>
                  <a:srgbClr val="5B6472"/>
                </a:solidFill>
                <a:latin typeface="Calibri" pitchFamily="34" charset="0"/>
                <a:ea typeface="Calibri" pitchFamily="34" charset="-122"/>
                <a:cs typeface="Calibri" pitchFamily="34" charset="-120"/>
              </a:rPr>
              <a:t>No vendemos plantillas genéricas. Cada aplicación se diseña alrededor de cómo trabaja realmente el negocio.</a:t>
            </a:r>
            <a:endParaRPr lang="en-US" sz="1400" dirty="0"/>
          </a:p>
        </p:txBody>
      </p:sp>
      <p:sp>
        <p:nvSpPr>
          <p:cNvPr id="5" name="Shape 3"/>
          <p:cNvSpPr/>
          <p:nvPr/>
        </p:nvSpPr>
        <p:spPr>
          <a:xfrm>
            <a:off x="548640" y="2148840"/>
            <a:ext cx="5394960" cy="1920240"/>
          </a:xfrm>
          <a:prstGeom prst="roundRect">
            <a:avLst>
              <a:gd name="adj" fmla="val 5714"/>
            </a:avLst>
          </a:prstGeom>
          <a:solidFill>
            <a:srgbClr val="F2F2F2"/>
          </a:solidFill>
          <a:ln/>
        </p:spPr>
        <p:txBody>
          <a:bodyPr/>
          <a:lstStyle/>
          <a:p>
            <a:endParaRPr lang="es-PE"/>
          </a:p>
        </p:txBody>
      </p:sp>
      <p:sp>
        <p:nvSpPr>
          <p:cNvPr id="6" name="Shape 4"/>
          <p:cNvSpPr/>
          <p:nvPr/>
        </p:nvSpPr>
        <p:spPr>
          <a:xfrm>
            <a:off x="822960" y="2423160"/>
            <a:ext cx="128016" cy="1371600"/>
          </a:xfrm>
          <a:prstGeom prst="roundRect">
            <a:avLst/>
          </a:prstGeom>
          <a:solidFill>
            <a:srgbClr val="1C7293"/>
          </a:solidFill>
          <a:ln/>
        </p:spPr>
        <p:txBody>
          <a:bodyPr/>
          <a:lstStyle/>
          <a:p>
            <a:endParaRPr lang="es-PE"/>
          </a:p>
        </p:txBody>
      </p:sp>
      <p:sp>
        <p:nvSpPr>
          <p:cNvPr id="7" name="Text 5"/>
          <p:cNvSpPr/>
          <p:nvPr/>
        </p:nvSpPr>
        <p:spPr>
          <a:xfrm>
            <a:off x="1097280" y="2404872"/>
            <a:ext cx="4572000" cy="457200"/>
          </a:xfrm>
          <a:prstGeom prst="rect">
            <a:avLst/>
          </a:prstGeom>
          <a:noFill/>
          <a:ln/>
        </p:spPr>
        <p:txBody>
          <a:bodyPr wrap="square" rtlCol="0" anchor="ctr"/>
          <a:lstStyle/>
          <a:p>
            <a:pPr marL="0" indent="0">
              <a:buNone/>
            </a:pPr>
            <a:r>
              <a:rPr lang="en-US" sz="1700" b="1" dirty="0">
                <a:solidFill>
                  <a:srgbClr val="1A1A2E"/>
                </a:solidFill>
                <a:latin typeface="Calibri" pitchFamily="34" charset="0"/>
                <a:ea typeface="Calibri" pitchFamily="34" charset="-122"/>
                <a:cs typeface="Calibri" pitchFamily="34" charset="-120"/>
              </a:rPr>
              <a:t>Apps de gestión</a:t>
            </a:r>
            <a:endParaRPr lang="en-US" sz="1700" dirty="0"/>
          </a:p>
        </p:txBody>
      </p:sp>
      <p:sp>
        <p:nvSpPr>
          <p:cNvPr id="8" name="Text 6"/>
          <p:cNvSpPr/>
          <p:nvPr/>
        </p:nvSpPr>
        <p:spPr>
          <a:xfrm>
            <a:off x="1097280" y="2880360"/>
            <a:ext cx="4572000" cy="1005840"/>
          </a:xfrm>
          <a:prstGeom prst="rect">
            <a:avLst/>
          </a:prstGeom>
          <a:noFill/>
          <a:ln/>
        </p:spPr>
        <p:txBody>
          <a:bodyPr wrap="square" rtlCol="0" anchor="ctr"/>
          <a:lstStyle/>
          <a:p>
            <a:pPr marL="0" indent="0">
              <a:buNone/>
            </a:pPr>
            <a:r>
              <a:rPr lang="en-US" sz="1300" dirty="0">
                <a:solidFill>
                  <a:srgbClr val="5B6472"/>
                </a:solidFill>
                <a:latin typeface="Calibri" pitchFamily="34" charset="0"/>
                <a:ea typeface="Calibri" pitchFamily="34" charset="-122"/>
                <a:cs typeface="Calibri" pitchFamily="34" charset="-120"/>
              </a:rPr>
              <a:t>Reservas, turnos, clientes, inventario, pagos y dashboards comerciales.</a:t>
            </a:r>
            <a:endParaRPr lang="en-US" sz="1300" dirty="0"/>
          </a:p>
        </p:txBody>
      </p:sp>
      <p:sp>
        <p:nvSpPr>
          <p:cNvPr id="9" name="Shape 7"/>
          <p:cNvSpPr/>
          <p:nvPr/>
        </p:nvSpPr>
        <p:spPr>
          <a:xfrm>
            <a:off x="6263640" y="2148840"/>
            <a:ext cx="5394960" cy="1920240"/>
          </a:xfrm>
          <a:prstGeom prst="roundRect">
            <a:avLst>
              <a:gd name="adj" fmla="val 5714"/>
            </a:avLst>
          </a:prstGeom>
          <a:solidFill>
            <a:srgbClr val="F2F2F2"/>
          </a:solidFill>
          <a:ln/>
        </p:spPr>
        <p:txBody>
          <a:bodyPr/>
          <a:lstStyle/>
          <a:p>
            <a:endParaRPr lang="es-PE"/>
          </a:p>
        </p:txBody>
      </p:sp>
      <p:sp>
        <p:nvSpPr>
          <p:cNvPr id="10" name="Shape 8"/>
          <p:cNvSpPr/>
          <p:nvPr/>
        </p:nvSpPr>
        <p:spPr>
          <a:xfrm>
            <a:off x="6537960" y="2423160"/>
            <a:ext cx="128016" cy="1371600"/>
          </a:xfrm>
          <a:prstGeom prst="roundRect">
            <a:avLst/>
          </a:prstGeom>
          <a:solidFill>
            <a:srgbClr val="1C7293"/>
          </a:solidFill>
          <a:ln/>
        </p:spPr>
        <p:txBody>
          <a:bodyPr/>
          <a:lstStyle/>
          <a:p>
            <a:endParaRPr lang="es-PE"/>
          </a:p>
        </p:txBody>
      </p:sp>
      <p:sp>
        <p:nvSpPr>
          <p:cNvPr id="11" name="Text 9"/>
          <p:cNvSpPr/>
          <p:nvPr/>
        </p:nvSpPr>
        <p:spPr>
          <a:xfrm>
            <a:off x="6812280" y="2404872"/>
            <a:ext cx="4572000" cy="457200"/>
          </a:xfrm>
          <a:prstGeom prst="rect">
            <a:avLst/>
          </a:prstGeom>
          <a:noFill/>
          <a:ln/>
        </p:spPr>
        <p:txBody>
          <a:bodyPr wrap="square" rtlCol="0" anchor="ctr"/>
          <a:lstStyle/>
          <a:p>
            <a:pPr marL="0" indent="0">
              <a:buNone/>
            </a:pPr>
            <a:r>
              <a:rPr lang="en-US" sz="1700" b="1" dirty="0">
                <a:solidFill>
                  <a:srgbClr val="1A1A2E"/>
                </a:solidFill>
                <a:latin typeface="Calibri" pitchFamily="34" charset="0"/>
                <a:ea typeface="Calibri" pitchFamily="34" charset="-122"/>
                <a:cs typeface="Calibri" pitchFamily="34" charset="-120"/>
              </a:rPr>
              <a:t>Landing pages y web</a:t>
            </a:r>
            <a:endParaRPr lang="en-US" sz="1700" dirty="0"/>
          </a:p>
        </p:txBody>
      </p:sp>
      <p:sp>
        <p:nvSpPr>
          <p:cNvPr id="12" name="Text 10"/>
          <p:cNvSpPr/>
          <p:nvPr/>
        </p:nvSpPr>
        <p:spPr>
          <a:xfrm>
            <a:off x="6812280" y="2880360"/>
            <a:ext cx="4572000" cy="1005840"/>
          </a:xfrm>
          <a:prstGeom prst="rect">
            <a:avLst/>
          </a:prstGeom>
          <a:noFill/>
          <a:ln/>
        </p:spPr>
        <p:txBody>
          <a:bodyPr wrap="square" rtlCol="0" anchor="ctr"/>
          <a:lstStyle/>
          <a:p>
            <a:pPr marL="0" indent="0">
              <a:buNone/>
            </a:pPr>
            <a:r>
              <a:rPr lang="en-US" sz="1300" dirty="0">
                <a:solidFill>
                  <a:srgbClr val="5B6472"/>
                </a:solidFill>
                <a:latin typeface="Calibri" pitchFamily="34" charset="0"/>
                <a:ea typeface="Calibri" pitchFamily="34" charset="-122"/>
                <a:cs typeface="Calibri" pitchFamily="34" charset="-120"/>
              </a:rPr>
              <a:t>Presencia digital que convierte visitas en clientes, con WhatsApp integrado.</a:t>
            </a:r>
            <a:endParaRPr lang="en-US" sz="1300" dirty="0"/>
          </a:p>
        </p:txBody>
      </p:sp>
      <p:sp>
        <p:nvSpPr>
          <p:cNvPr id="13" name="Shape 11"/>
          <p:cNvSpPr/>
          <p:nvPr/>
        </p:nvSpPr>
        <p:spPr>
          <a:xfrm>
            <a:off x="548640" y="4389120"/>
            <a:ext cx="5394960" cy="1920240"/>
          </a:xfrm>
          <a:prstGeom prst="roundRect">
            <a:avLst>
              <a:gd name="adj" fmla="val 5714"/>
            </a:avLst>
          </a:prstGeom>
          <a:solidFill>
            <a:srgbClr val="F2F2F2"/>
          </a:solidFill>
          <a:ln/>
        </p:spPr>
        <p:txBody>
          <a:bodyPr/>
          <a:lstStyle/>
          <a:p>
            <a:endParaRPr lang="es-PE"/>
          </a:p>
        </p:txBody>
      </p:sp>
      <p:sp>
        <p:nvSpPr>
          <p:cNvPr id="14" name="Shape 12"/>
          <p:cNvSpPr/>
          <p:nvPr/>
        </p:nvSpPr>
        <p:spPr>
          <a:xfrm>
            <a:off x="822960" y="4663440"/>
            <a:ext cx="128016" cy="1371600"/>
          </a:xfrm>
          <a:prstGeom prst="roundRect">
            <a:avLst/>
          </a:prstGeom>
          <a:solidFill>
            <a:srgbClr val="1C7293"/>
          </a:solidFill>
          <a:ln/>
        </p:spPr>
        <p:txBody>
          <a:bodyPr/>
          <a:lstStyle/>
          <a:p>
            <a:endParaRPr lang="es-PE"/>
          </a:p>
        </p:txBody>
      </p:sp>
      <p:sp>
        <p:nvSpPr>
          <p:cNvPr id="15" name="Text 13"/>
          <p:cNvSpPr/>
          <p:nvPr/>
        </p:nvSpPr>
        <p:spPr>
          <a:xfrm>
            <a:off x="1097280" y="4645152"/>
            <a:ext cx="4572000" cy="457200"/>
          </a:xfrm>
          <a:prstGeom prst="rect">
            <a:avLst/>
          </a:prstGeom>
          <a:noFill/>
          <a:ln/>
        </p:spPr>
        <p:txBody>
          <a:bodyPr wrap="square" rtlCol="0" anchor="ctr"/>
          <a:lstStyle/>
          <a:p>
            <a:pPr marL="0" indent="0">
              <a:buNone/>
            </a:pPr>
            <a:r>
              <a:rPr lang="en-US" sz="1700" b="1" dirty="0">
                <a:solidFill>
                  <a:srgbClr val="1A1A2E"/>
                </a:solidFill>
                <a:latin typeface="Calibri" pitchFamily="34" charset="0"/>
                <a:ea typeface="Calibri" pitchFamily="34" charset="-122"/>
                <a:cs typeface="Calibri" pitchFamily="34" charset="-120"/>
              </a:rPr>
              <a:t>Automatización con IA</a:t>
            </a:r>
            <a:endParaRPr lang="en-US" sz="1700" dirty="0"/>
          </a:p>
        </p:txBody>
      </p:sp>
      <p:sp>
        <p:nvSpPr>
          <p:cNvPr id="16" name="Text 14"/>
          <p:cNvSpPr/>
          <p:nvPr/>
        </p:nvSpPr>
        <p:spPr>
          <a:xfrm>
            <a:off x="1097280" y="5120640"/>
            <a:ext cx="4572000" cy="1005840"/>
          </a:xfrm>
          <a:prstGeom prst="rect">
            <a:avLst/>
          </a:prstGeom>
          <a:noFill/>
          <a:ln/>
        </p:spPr>
        <p:txBody>
          <a:bodyPr wrap="square" rtlCol="0" anchor="ctr"/>
          <a:lstStyle/>
          <a:p>
            <a:pPr marL="0" indent="0">
              <a:buNone/>
            </a:pPr>
            <a:r>
              <a:rPr lang="en-US" sz="1300" dirty="0">
                <a:solidFill>
                  <a:srgbClr val="5B6472"/>
                </a:solidFill>
                <a:latin typeface="Calibri" pitchFamily="34" charset="0"/>
                <a:ea typeface="Calibri" pitchFamily="34" charset="-122"/>
                <a:cs typeface="Calibri" pitchFamily="34" charset="-120"/>
              </a:rPr>
              <a:t>Chatbots de WhatsApp y paneles con IA que ahorran horas cada semana.</a:t>
            </a:r>
            <a:endParaRPr lang="en-US" sz="1300" dirty="0"/>
          </a:p>
        </p:txBody>
      </p:sp>
      <p:sp>
        <p:nvSpPr>
          <p:cNvPr id="17" name="Shape 15"/>
          <p:cNvSpPr/>
          <p:nvPr/>
        </p:nvSpPr>
        <p:spPr>
          <a:xfrm>
            <a:off x="6263640" y="4389120"/>
            <a:ext cx="5394960" cy="1920240"/>
          </a:xfrm>
          <a:prstGeom prst="roundRect">
            <a:avLst>
              <a:gd name="adj" fmla="val 5714"/>
            </a:avLst>
          </a:prstGeom>
          <a:solidFill>
            <a:srgbClr val="F2F2F2"/>
          </a:solidFill>
          <a:ln/>
        </p:spPr>
        <p:txBody>
          <a:bodyPr/>
          <a:lstStyle/>
          <a:p>
            <a:endParaRPr lang="es-PE"/>
          </a:p>
        </p:txBody>
      </p:sp>
      <p:sp>
        <p:nvSpPr>
          <p:cNvPr id="18" name="Shape 16"/>
          <p:cNvSpPr/>
          <p:nvPr/>
        </p:nvSpPr>
        <p:spPr>
          <a:xfrm>
            <a:off x="6537960" y="4663440"/>
            <a:ext cx="128016" cy="1371600"/>
          </a:xfrm>
          <a:prstGeom prst="roundRect">
            <a:avLst/>
          </a:prstGeom>
          <a:solidFill>
            <a:srgbClr val="1C7293"/>
          </a:solidFill>
          <a:ln/>
        </p:spPr>
        <p:txBody>
          <a:bodyPr/>
          <a:lstStyle/>
          <a:p>
            <a:endParaRPr lang="es-PE"/>
          </a:p>
        </p:txBody>
      </p:sp>
      <p:sp>
        <p:nvSpPr>
          <p:cNvPr id="19" name="Text 17"/>
          <p:cNvSpPr/>
          <p:nvPr/>
        </p:nvSpPr>
        <p:spPr>
          <a:xfrm>
            <a:off x="6812280" y="4645152"/>
            <a:ext cx="4572000" cy="457200"/>
          </a:xfrm>
          <a:prstGeom prst="rect">
            <a:avLst/>
          </a:prstGeom>
          <a:noFill/>
          <a:ln/>
        </p:spPr>
        <p:txBody>
          <a:bodyPr wrap="square" rtlCol="0" anchor="ctr"/>
          <a:lstStyle/>
          <a:p>
            <a:pPr marL="0" indent="0">
              <a:buNone/>
            </a:pPr>
            <a:r>
              <a:rPr lang="en-US" sz="1700" b="1" dirty="0">
                <a:solidFill>
                  <a:srgbClr val="1A1A2E"/>
                </a:solidFill>
                <a:latin typeface="Calibri" pitchFamily="34" charset="0"/>
                <a:ea typeface="Calibri" pitchFamily="34" charset="-122"/>
                <a:cs typeface="Calibri" pitchFamily="34" charset="-120"/>
              </a:rPr>
              <a:t>MVPs para startups</a:t>
            </a:r>
            <a:endParaRPr lang="en-US" sz="1700" dirty="0"/>
          </a:p>
        </p:txBody>
      </p:sp>
      <p:sp>
        <p:nvSpPr>
          <p:cNvPr id="20" name="Text 18"/>
          <p:cNvSpPr/>
          <p:nvPr/>
        </p:nvSpPr>
        <p:spPr>
          <a:xfrm>
            <a:off x="6812280" y="5120640"/>
            <a:ext cx="4572000" cy="1005840"/>
          </a:xfrm>
          <a:prstGeom prst="rect">
            <a:avLst/>
          </a:prstGeom>
          <a:noFill/>
          <a:ln/>
        </p:spPr>
        <p:txBody>
          <a:bodyPr wrap="square" rtlCol="0" anchor="ctr"/>
          <a:lstStyle/>
          <a:p>
            <a:pPr marL="0" indent="0">
              <a:buNone/>
            </a:pPr>
            <a:r>
              <a:rPr lang="en-US" sz="1300" dirty="0">
                <a:solidFill>
                  <a:srgbClr val="5B6472"/>
                </a:solidFill>
                <a:latin typeface="Calibri" pitchFamily="34" charset="0"/>
                <a:ea typeface="Calibri" pitchFamily="34" charset="-122"/>
                <a:cs typeface="Calibri" pitchFamily="34" charset="-120"/>
              </a:rPr>
              <a:t>Valida tu idea con un producto funcional en semanas, no en meses.</a:t>
            </a:r>
            <a:endParaRPr lang="en-US" sz="1300" dirty="0"/>
          </a:p>
        </p:txBody>
      </p:sp>
      <p:sp>
        <p:nvSpPr>
          <p:cNvPr id="21" name="Text 19"/>
          <p:cNvSpPr/>
          <p:nvPr/>
        </p:nvSpPr>
        <p:spPr>
          <a:xfrm>
            <a:off x="11548872" y="6400800"/>
            <a:ext cx="457200" cy="320040"/>
          </a:xfrm>
          <a:prstGeom prst="rect">
            <a:avLst/>
          </a:prstGeom>
          <a:noFill/>
          <a:ln/>
        </p:spPr>
        <p:txBody>
          <a:bodyPr wrap="square" rtlCol="0" anchor="ctr"/>
          <a:lstStyle/>
          <a:p>
            <a:pPr marL="0" indent="0" algn="r">
              <a:buNone/>
            </a:pPr>
            <a:r>
              <a:rPr lang="en-US" sz="1100" dirty="0">
                <a:solidFill>
                  <a:srgbClr val="AAB4BE"/>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SERVICIO 1 DE 4</a:t>
            </a:r>
            <a:endParaRPr lang="en-US" sz="1300" dirty="0"/>
          </a:p>
        </p:txBody>
      </p:sp>
      <p:sp>
        <p:nvSpPr>
          <p:cNvPr id="3" name="Shape 1"/>
          <p:cNvSpPr/>
          <p:nvPr/>
        </p:nvSpPr>
        <p:spPr>
          <a:xfrm>
            <a:off x="548640" y="1005840"/>
            <a:ext cx="1005840" cy="1005840"/>
          </a:xfrm>
          <a:prstGeom prst="ellipse">
            <a:avLst/>
          </a:prstGeom>
          <a:solidFill>
            <a:srgbClr val="065A82"/>
          </a:solidFill>
          <a:ln/>
        </p:spPr>
        <p:txBody>
          <a:bodyPr/>
          <a:lstStyle/>
          <a:p>
            <a:endParaRPr lang="es-PE"/>
          </a:p>
        </p:txBody>
      </p:sp>
      <p:sp>
        <p:nvSpPr>
          <p:cNvPr id="4" name="Text 2"/>
          <p:cNvSpPr/>
          <p:nvPr/>
        </p:nvSpPr>
        <p:spPr>
          <a:xfrm>
            <a:off x="548640" y="1005840"/>
            <a:ext cx="1005840" cy="1005840"/>
          </a:xfrm>
          <a:prstGeom prst="rect">
            <a:avLst/>
          </a:prstGeom>
          <a:noFill/>
          <a:ln/>
        </p:spPr>
        <p:txBody>
          <a:bodyPr wrap="square" rtlCol="0" anchor="ctr"/>
          <a:lstStyle/>
          <a:p>
            <a:pPr marL="0" indent="0" algn="ctr">
              <a:buNone/>
            </a:pPr>
            <a:r>
              <a:rPr lang="en-US" sz="3400" b="1" dirty="0">
                <a:solidFill>
                  <a:srgbClr val="FFFFFF"/>
                </a:solidFill>
                <a:latin typeface="Calibri" pitchFamily="34" charset="0"/>
                <a:ea typeface="Calibri" pitchFamily="34" charset="-122"/>
                <a:cs typeface="Calibri" pitchFamily="34" charset="-120"/>
              </a:rPr>
              <a:t>1</a:t>
            </a:r>
            <a:endParaRPr lang="en-US" sz="3400" dirty="0"/>
          </a:p>
        </p:txBody>
      </p:sp>
      <p:sp>
        <p:nvSpPr>
          <p:cNvPr id="5" name="Text 3"/>
          <p:cNvSpPr/>
          <p:nvPr/>
        </p:nvSpPr>
        <p:spPr>
          <a:xfrm>
            <a:off x="1828800" y="1051560"/>
            <a:ext cx="9144000" cy="822960"/>
          </a:xfrm>
          <a:prstGeom prst="rect">
            <a:avLst/>
          </a:prstGeom>
          <a:noFill/>
          <a:ln/>
        </p:spPr>
        <p:txBody>
          <a:bodyPr wrap="square" rtlCol="0" anchor="ctr"/>
          <a:lstStyle/>
          <a:p>
            <a:pPr marL="0" indent="0">
              <a:buNone/>
            </a:pPr>
            <a:r>
              <a:rPr lang="en-US" sz="2800" b="1" dirty="0">
                <a:solidFill>
                  <a:srgbClr val="1A1A2E"/>
                </a:solidFill>
                <a:latin typeface="Cambria" pitchFamily="34" charset="0"/>
                <a:ea typeface="Cambria" pitchFamily="34" charset="-122"/>
                <a:cs typeface="Cambria" pitchFamily="34" charset="-120"/>
              </a:rPr>
              <a:t>Apps de gestión</a:t>
            </a:r>
            <a:endParaRPr lang="en-US" sz="2800" dirty="0"/>
          </a:p>
        </p:txBody>
      </p:sp>
      <p:sp>
        <p:nvSpPr>
          <p:cNvPr id="6" name="Text 4"/>
          <p:cNvSpPr/>
          <p:nvPr/>
        </p:nvSpPr>
        <p:spPr>
          <a:xfrm>
            <a:off x="1828800" y="1783080"/>
            <a:ext cx="9509760" cy="640080"/>
          </a:xfrm>
          <a:prstGeom prst="rect">
            <a:avLst/>
          </a:prstGeom>
          <a:noFill/>
          <a:ln/>
        </p:spPr>
        <p:txBody>
          <a:bodyPr wrap="square" rtlCol="0" anchor="ctr"/>
          <a:lstStyle/>
          <a:p>
            <a:pPr marL="0" indent="0">
              <a:buNone/>
            </a:pPr>
            <a:r>
              <a:rPr lang="en-US" sz="1500" dirty="0">
                <a:solidFill>
                  <a:srgbClr val="5B6472"/>
                </a:solidFill>
                <a:latin typeface="Calibri" pitchFamily="34" charset="0"/>
                <a:ea typeface="Calibri" pitchFamily="34" charset="-122"/>
                <a:cs typeface="Calibri" pitchFamily="34" charset="-120"/>
              </a:rPr>
              <a:t>Reservas, turnos, clientes, inventario, pagos y dashboards comerciales.</a:t>
            </a:r>
            <a:endParaRPr lang="en-US" sz="1500" dirty="0"/>
          </a:p>
        </p:txBody>
      </p:sp>
      <p:sp>
        <p:nvSpPr>
          <p:cNvPr id="7" name="Shape 5"/>
          <p:cNvSpPr/>
          <p:nvPr/>
        </p:nvSpPr>
        <p:spPr>
          <a:xfrm>
            <a:off x="640080" y="2852928"/>
            <a:ext cx="109728" cy="109728"/>
          </a:xfrm>
          <a:prstGeom prst="ellipse">
            <a:avLst/>
          </a:prstGeom>
          <a:solidFill>
            <a:srgbClr val="F2A65A"/>
          </a:solidFill>
          <a:ln/>
        </p:spPr>
        <p:txBody>
          <a:bodyPr/>
          <a:lstStyle/>
          <a:p>
            <a:endParaRPr lang="es-PE"/>
          </a:p>
        </p:txBody>
      </p:sp>
      <p:sp>
        <p:nvSpPr>
          <p:cNvPr id="8" name="Text 6"/>
          <p:cNvSpPr/>
          <p:nvPr/>
        </p:nvSpPr>
        <p:spPr>
          <a:xfrm>
            <a:off x="914400" y="2743200"/>
            <a:ext cx="10241280" cy="41148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Pipelines y seguimiento de leads adaptados al flujo real del negocio.</a:t>
            </a:r>
            <a:endParaRPr lang="en-US" sz="1400" dirty="0"/>
          </a:p>
        </p:txBody>
      </p:sp>
      <p:sp>
        <p:nvSpPr>
          <p:cNvPr id="9" name="Shape 7"/>
          <p:cNvSpPr/>
          <p:nvPr/>
        </p:nvSpPr>
        <p:spPr>
          <a:xfrm>
            <a:off x="640080" y="3355848"/>
            <a:ext cx="109728" cy="109728"/>
          </a:xfrm>
          <a:prstGeom prst="ellipse">
            <a:avLst/>
          </a:prstGeom>
          <a:solidFill>
            <a:srgbClr val="F2A65A"/>
          </a:solidFill>
          <a:ln/>
        </p:spPr>
        <p:txBody>
          <a:bodyPr/>
          <a:lstStyle/>
          <a:p>
            <a:endParaRPr lang="es-PE"/>
          </a:p>
        </p:txBody>
      </p:sp>
      <p:sp>
        <p:nvSpPr>
          <p:cNvPr id="10" name="Text 8"/>
          <p:cNvSpPr/>
          <p:nvPr/>
        </p:nvSpPr>
        <p:spPr>
          <a:xfrm>
            <a:off x="914400" y="3246120"/>
            <a:ext cx="10241280" cy="41148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Sirve tanto para un local físico como para un equipo comercial completo.</a:t>
            </a:r>
            <a:endParaRPr lang="en-US" sz="1400" dirty="0"/>
          </a:p>
        </p:txBody>
      </p:sp>
      <p:sp>
        <p:nvSpPr>
          <p:cNvPr id="11" name="Shape 9"/>
          <p:cNvSpPr/>
          <p:nvPr/>
        </p:nvSpPr>
        <p:spPr>
          <a:xfrm>
            <a:off x="640080" y="3858768"/>
            <a:ext cx="109728" cy="109728"/>
          </a:xfrm>
          <a:prstGeom prst="ellipse">
            <a:avLst/>
          </a:prstGeom>
          <a:solidFill>
            <a:srgbClr val="F2A65A"/>
          </a:solidFill>
          <a:ln/>
        </p:spPr>
        <p:txBody>
          <a:bodyPr/>
          <a:lstStyle/>
          <a:p>
            <a:endParaRPr lang="es-PE"/>
          </a:p>
        </p:txBody>
      </p:sp>
      <p:sp>
        <p:nvSpPr>
          <p:cNvPr id="12" name="Text 10"/>
          <p:cNvSpPr/>
          <p:nvPr/>
        </p:nvSpPr>
        <p:spPr>
          <a:xfrm>
            <a:off x="914400" y="3749040"/>
            <a:ext cx="10241280" cy="41148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Ejemplo de dolor que resuelve: “ya no sé qué cliente me debe o qué pedido va primero”.</a:t>
            </a:r>
            <a:endParaRPr lang="en-US" sz="1400" dirty="0"/>
          </a:p>
        </p:txBody>
      </p:sp>
      <p:sp>
        <p:nvSpPr>
          <p:cNvPr id="13" name="Text 11"/>
          <p:cNvSpPr/>
          <p:nvPr/>
        </p:nvSpPr>
        <p:spPr>
          <a:xfrm>
            <a:off x="11548872" y="6400800"/>
            <a:ext cx="457200" cy="320040"/>
          </a:xfrm>
          <a:prstGeom prst="rect">
            <a:avLst/>
          </a:prstGeom>
          <a:noFill/>
          <a:ln/>
        </p:spPr>
        <p:txBody>
          <a:bodyPr wrap="square" rtlCol="0" anchor="ctr"/>
          <a:lstStyle/>
          <a:p>
            <a:pPr marL="0" indent="0" algn="r">
              <a:buNone/>
            </a:pPr>
            <a:r>
              <a:rPr lang="en-US" sz="1100" dirty="0">
                <a:solidFill>
                  <a:srgbClr val="AAB4BE"/>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SERVICIO 2 DE 4</a:t>
            </a:r>
            <a:endParaRPr lang="en-US" sz="1300" dirty="0"/>
          </a:p>
        </p:txBody>
      </p:sp>
      <p:sp>
        <p:nvSpPr>
          <p:cNvPr id="3" name="Shape 1"/>
          <p:cNvSpPr/>
          <p:nvPr/>
        </p:nvSpPr>
        <p:spPr>
          <a:xfrm>
            <a:off x="548640" y="1005840"/>
            <a:ext cx="1005840" cy="1005840"/>
          </a:xfrm>
          <a:prstGeom prst="ellipse">
            <a:avLst/>
          </a:prstGeom>
          <a:solidFill>
            <a:srgbClr val="065A82"/>
          </a:solidFill>
          <a:ln/>
        </p:spPr>
        <p:txBody>
          <a:bodyPr/>
          <a:lstStyle/>
          <a:p>
            <a:endParaRPr lang="es-PE"/>
          </a:p>
        </p:txBody>
      </p:sp>
      <p:sp>
        <p:nvSpPr>
          <p:cNvPr id="4" name="Text 2"/>
          <p:cNvSpPr/>
          <p:nvPr/>
        </p:nvSpPr>
        <p:spPr>
          <a:xfrm>
            <a:off x="548640" y="1005840"/>
            <a:ext cx="1005840" cy="1005840"/>
          </a:xfrm>
          <a:prstGeom prst="rect">
            <a:avLst/>
          </a:prstGeom>
          <a:noFill/>
          <a:ln/>
        </p:spPr>
        <p:txBody>
          <a:bodyPr wrap="square" rtlCol="0" anchor="ctr"/>
          <a:lstStyle/>
          <a:p>
            <a:pPr marL="0" indent="0" algn="ctr">
              <a:buNone/>
            </a:pPr>
            <a:r>
              <a:rPr lang="en-US" sz="3400" b="1" dirty="0">
                <a:solidFill>
                  <a:srgbClr val="FFFFFF"/>
                </a:solidFill>
                <a:latin typeface="Calibri" pitchFamily="34" charset="0"/>
                <a:ea typeface="Calibri" pitchFamily="34" charset="-122"/>
                <a:cs typeface="Calibri" pitchFamily="34" charset="-120"/>
              </a:rPr>
              <a:t>2</a:t>
            </a:r>
            <a:endParaRPr lang="en-US" sz="3400" dirty="0"/>
          </a:p>
        </p:txBody>
      </p:sp>
      <p:sp>
        <p:nvSpPr>
          <p:cNvPr id="5" name="Text 3"/>
          <p:cNvSpPr/>
          <p:nvPr/>
        </p:nvSpPr>
        <p:spPr>
          <a:xfrm>
            <a:off x="1828800" y="1051560"/>
            <a:ext cx="9144000" cy="822960"/>
          </a:xfrm>
          <a:prstGeom prst="rect">
            <a:avLst/>
          </a:prstGeom>
          <a:noFill/>
          <a:ln/>
        </p:spPr>
        <p:txBody>
          <a:bodyPr wrap="square" rtlCol="0" anchor="ctr"/>
          <a:lstStyle/>
          <a:p>
            <a:pPr marL="0" indent="0">
              <a:buNone/>
            </a:pPr>
            <a:r>
              <a:rPr lang="en-US" sz="2800" b="1" dirty="0">
                <a:solidFill>
                  <a:srgbClr val="1A1A2E"/>
                </a:solidFill>
                <a:latin typeface="Cambria" pitchFamily="34" charset="0"/>
                <a:ea typeface="Cambria" pitchFamily="34" charset="-122"/>
                <a:cs typeface="Cambria" pitchFamily="34" charset="-120"/>
              </a:rPr>
              <a:t>Landing pages y web</a:t>
            </a:r>
            <a:endParaRPr lang="en-US" sz="2800" dirty="0"/>
          </a:p>
        </p:txBody>
      </p:sp>
      <p:sp>
        <p:nvSpPr>
          <p:cNvPr id="6" name="Text 4"/>
          <p:cNvSpPr/>
          <p:nvPr/>
        </p:nvSpPr>
        <p:spPr>
          <a:xfrm>
            <a:off x="1828800" y="1783080"/>
            <a:ext cx="9509760" cy="640080"/>
          </a:xfrm>
          <a:prstGeom prst="rect">
            <a:avLst/>
          </a:prstGeom>
          <a:noFill/>
          <a:ln/>
        </p:spPr>
        <p:txBody>
          <a:bodyPr wrap="square" rtlCol="0" anchor="ctr"/>
          <a:lstStyle/>
          <a:p>
            <a:pPr marL="0" indent="0">
              <a:buNone/>
            </a:pPr>
            <a:r>
              <a:rPr lang="en-US" sz="1500" dirty="0">
                <a:solidFill>
                  <a:srgbClr val="5B6472"/>
                </a:solidFill>
                <a:latin typeface="Calibri" pitchFamily="34" charset="0"/>
                <a:ea typeface="Calibri" pitchFamily="34" charset="-122"/>
                <a:cs typeface="Calibri" pitchFamily="34" charset="-120"/>
              </a:rPr>
              <a:t>Presencia digital que convierte visitas en clientes.</a:t>
            </a:r>
            <a:endParaRPr lang="en-US" sz="1500" dirty="0"/>
          </a:p>
        </p:txBody>
      </p:sp>
      <p:sp>
        <p:nvSpPr>
          <p:cNvPr id="7" name="Shape 5"/>
          <p:cNvSpPr/>
          <p:nvPr/>
        </p:nvSpPr>
        <p:spPr>
          <a:xfrm>
            <a:off x="640080" y="2852928"/>
            <a:ext cx="109728" cy="109728"/>
          </a:xfrm>
          <a:prstGeom prst="ellipse">
            <a:avLst/>
          </a:prstGeom>
          <a:solidFill>
            <a:srgbClr val="F2A65A"/>
          </a:solidFill>
          <a:ln/>
        </p:spPr>
        <p:txBody>
          <a:bodyPr/>
          <a:lstStyle/>
          <a:p>
            <a:endParaRPr lang="es-PE"/>
          </a:p>
        </p:txBody>
      </p:sp>
      <p:sp>
        <p:nvSpPr>
          <p:cNvPr id="8" name="Text 6"/>
          <p:cNvSpPr/>
          <p:nvPr/>
        </p:nvSpPr>
        <p:spPr>
          <a:xfrm>
            <a:off x="914400" y="2743200"/>
            <a:ext cx="10241280" cy="41148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Formulario y WhatsApp integrados desde el diseño, no como agregado.</a:t>
            </a:r>
            <a:endParaRPr lang="en-US" sz="1400" dirty="0"/>
          </a:p>
        </p:txBody>
      </p:sp>
      <p:sp>
        <p:nvSpPr>
          <p:cNvPr id="9" name="Shape 7"/>
          <p:cNvSpPr/>
          <p:nvPr/>
        </p:nvSpPr>
        <p:spPr>
          <a:xfrm>
            <a:off x="640080" y="3355848"/>
            <a:ext cx="109728" cy="109728"/>
          </a:xfrm>
          <a:prstGeom prst="ellipse">
            <a:avLst/>
          </a:prstGeom>
          <a:solidFill>
            <a:srgbClr val="F2A65A"/>
          </a:solidFill>
          <a:ln/>
        </p:spPr>
        <p:txBody>
          <a:bodyPr/>
          <a:lstStyle/>
          <a:p>
            <a:endParaRPr lang="es-PE"/>
          </a:p>
        </p:txBody>
      </p:sp>
      <p:sp>
        <p:nvSpPr>
          <p:cNvPr id="10" name="Text 8"/>
          <p:cNvSpPr/>
          <p:nvPr/>
        </p:nvSpPr>
        <p:spPr>
          <a:xfrm>
            <a:off x="914400" y="3246120"/>
            <a:ext cx="10241280" cy="41148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Pensada para que el cliente nuevo no dependa solo del boca a boca.</a:t>
            </a:r>
            <a:endParaRPr lang="en-US" sz="1400" dirty="0"/>
          </a:p>
        </p:txBody>
      </p:sp>
      <p:sp>
        <p:nvSpPr>
          <p:cNvPr id="11" name="Shape 9"/>
          <p:cNvSpPr/>
          <p:nvPr/>
        </p:nvSpPr>
        <p:spPr>
          <a:xfrm>
            <a:off x="640080" y="3858768"/>
            <a:ext cx="109728" cy="109728"/>
          </a:xfrm>
          <a:prstGeom prst="ellipse">
            <a:avLst/>
          </a:prstGeom>
          <a:solidFill>
            <a:srgbClr val="F2A65A"/>
          </a:solidFill>
          <a:ln/>
        </p:spPr>
        <p:txBody>
          <a:bodyPr/>
          <a:lstStyle/>
          <a:p>
            <a:endParaRPr lang="es-PE"/>
          </a:p>
        </p:txBody>
      </p:sp>
      <p:sp>
        <p:nvSpPr>
          <p:cNvPr id="12" name="Text 10"/>
          <p:cNvSpPr/>
          <p:nvPr/>
        </p:nvSpPr>
        <p:spPr>
          <a:xfrm>
            <a:off x="914400" y="3749040"/>
            <a:ext cx="10241280" cy="41148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Ejemplo de dolor que resuelve: “nadie me encuentra si no me conoce ya”.</a:t>
            </a:r>
            <a:endParaRPr lang="en-US" sz="1400" dirty="0"/>
          </a:p>
        </p:txBody>
      </p:sp>
      <p:sp>
        <p:nvSpPr>
          <p:cNvPr id="13" name="Text 11"/>
          <p:cNvSpPr/>
          <p:nvPr/>
        </p:nvSpPr>
        <p:spPr>
          <a:xfrm>
            <a:off x="11548872" y="6400800"/>
            <a:ext cx="457200" cy="320040"/>
          </a:xfrm>
          <a:prstGeom prst="rect">
            <a:avLst/>
          </a:prstGeom>
          <a:noFill/>
          <a:ln/>
        </p:spPr>
        <p:txBody>
          <a:bodyPr wrap="square" rtlCol="0" anchor="ctr"/>
          <a:lstStyle/>
          <a:p>
            <a:pPr marL="0" indent="0" algn="r">
              <a:buNone/>
            </a:pPr>
            <a:r>
              <a:rPr lang="en-US" sz="1100" dirty="0">
                <a:solidFill>
                  <a:srgbClr val="AAB4BE"/>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SERVICIO 3 DE 4</a:t>
            </a:r>
            <a:endParaRPr lang="en-US" sz="1300" dirty="0"/>
          </a:p>
        </p:txBody>
      </p:sp>
      <p:sp>
        <p:nvSpPr>
          <p:cNvPr id="3" name="Shape 1"/>
          <p:cNvSpPr/>
          <p:nvPr/>
        </p:nvSpPr>
        <p:spPr>
          <a:xfrm>
            <a:off x="548640" y="1005840"/>
            <a:ext cx="1005840" cy="1005840"/>
          </a:xfrm>
          <a:prstGeom prst="ellipse">
            <a:avLst/>
          </a:prstGeom>
          <a:solidFill>
            <a:srgbClr val="065A82"/>
          </a:solidFill>
          <a:ln/>
        </p:spPr>
        <p:txBody>
          <a:bodyPr/>
          <a:lstStyle/>
          <a:p>
            <a:endParaRPr lang="es-PE"/>
          </a:p>
        </p:txBody>
      </p:sp>
      <p:sp>
        <p:nvSpPr>
          <p:cNvPr id="4" name="Text 2"/>
          <p:cNvSpPr/>
          <p:nvPr/>
        </p:nvSpPr>
        <p:spPr>
          <a:xfrm>
            <a:off x="548640" y="1005840"/>
            <a:ext cx="1005840" cy="1005840"/>
          </a:xfrm>
          <a:prstGeom prst="rect">
            <a:avLst/>
          </a:prstGeom>
          <a:noFill/>
          <a:ln/>
        </p:spPr>
        <p:txBody>
          <a:bodyPr wrap="square" rtlCol="0" anchor="ctr"/>
          <a:lstStyle/>
          <a:p>
            <a:pPr marL="0" indent="0" algn="ctr">
              <a:buNone/>
            </a:pPr>
            <a:r>
              <a:rPr lang="en-US" sz="3400" b="1" dirty="0">
                <a:solidFill>
                  <a:srgbClr val="FFFFFF"/>
                </a:solidFill>
                <a:latin typeface="Calibri" pitchFamily="34" charset="0"/>
                <a:ea typeface="Calibri" pitchFamily="34" charset="-122"/>
                <a:cs typeface="Calibri" pitchFamily="34" charset="-120"/>
              </a:rPr>
              <a:t>3</a:t>
            </a:r>
            <a:endParaRPr lang="en-US" sz="3400" dirty="0"/>
          </a:p>
        </p:txBody>
      </p:sp>
      <p:sp>
        <p:nvSpPr>
          <p:cNvPr id="5" name="Text 3"/>
          <p:cNvSpPr/>
          <p:nvPr/>
        </p:nvSpPr>
        <p:spPr>
          <a:xfrm>
            <a:off x="1828800" y="1051560"/>
            <a:ext cx="9144000" cy="822960"/>
          </a:xfrm>
          <a:prstGeom prst="rect">
            <a:avLst/>
          </a:prstGeom>
          <a:noFill/>
          <a:ln/>
        </p:spPr>
        <p:txBody>
          <a:bodyPr wrap="square" rtlCol="0" anchor="ctr"/>
          <a:lstStyle/>
          <a:p>
            <a:pPr marL="0" indent="0">
              <a:buNone/>
            </a:pPr>
            <a:r>
              <a:rPr lang="en-US" sz="2800" b="1" dirty="0">
                <a:solidFill>
                  <a:srgbClr val="1A1A2E"/>
                </a:solidFill>
                <a:latin typeface="Cambria" pitchFamily="34" charset="0"/>
                <a:ea typeface="Cambria" pitchFamily="34" charset="-122"/>
                <a:cs typeface="Cambria" pitchFamily="34" charset="-120"/>
              </a:rPr>
              <a:t>Automatización con IA</a:t>
            </a:r>
            <a:endParaRPr lang="en-US" sz="2800" dirty="0"/>
          </a:p>
        </p:txBody>
      </p:sp>
      <p:sp>
        <p:nvSpPr>
          <p:cNvPr id="6" name="Text 4"/>
          <p:cNvSpPr/>
          <p:nvPr/>
        </p:nvSpPr>
        <p:spPr>
          <a:xfrm>
            <a:off x="1828800" y="1783080"/>
            <a:ext cx="9509760" cy="640080"/>
          </a:xfrm>
          <a:prstGeom prst="rect">
            <a:avLst/>
          </a:prstGeom>
          <a:noFill/>
          <a:ln/>
        </p:spPr>
        <p:txBody>
          <a:bodyPr wrap="square" rtlCol="0" anchor="ctr"/>
          <a:lstStyle/>
          <a:p>
            <a:pPr marL="0" indent="0">
              <a:buNone/>
            </a:pPr>
            <a:r>
              <a:rPr lang="en-US" sz="1500" dirty="0">
                <a:solidFill>
                  <a:srgbClr val="5B6472"/>
                </a:solidFill>
                <a:latin typeface="Calibri" pitchFamily="34" charset="0"/>
                <a:ea typeface="Calibri" pitchFamily="34" charset="-122"/>
                <a:cs typeface="Calibri" pitchFamily="34" charset="-120"/>
              </a:rPr>
              <a:t>Chatbots de WhatsApp y paneles con IA que ahorran horas cada semana.</a:t>
            </a:r>
            <a:endParaRPr lang="en-US" sz="1500" dirty="0"/>
          </a:p>
        </p:txBody>
      </p:sp>
      <p:sp>
        <p:nvSpPr>
          <p:cNvPr id="7" name="Shape 5"/>
          <p:cNvSpPr/>
          <p:nvPr/>
        </p:nvSpPr>
        <p:spPr>
          <a:xfrm>
            <a:off x="640080" y="2852928"/>
            <a:ext cx="109728" cy="109728"/>
          </a:xfrm>
          <a:prstGeom prst="ellipse">
            <a:avLst/>
          </a:prstGeom>
          <a:solidFill>
            <a:srgbClr val="F2A65A"/>
          </a:solidFill>
          <a:ln/>
        </p:spPr>
        <p:txBody>
          <a:bodyPr/>
          <a:lstStyle/>
          <a:p>
            <a:endParaRPr lang="es-PE"/>
          </a:p>
        </p:txBody>
      </p:sp>
      <p:sp>
        <p:nvSpPr>
          <p:cNvPr id="8" name="Text 6"/>
          <p:cNvSpPr/>
          <p:nvPr/>
        </p:nvSpPr>
        <p:spPr>
          <a:xfrm>
            <a:off x="914400" y="2743200"/>
            <a:ext cx="10241280" cy="41148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Respuestas automáticas a preguntas frecuentes de clientes.</a:t>
            </a:r>
            <a:endParaRPr lang="en-US" sz="1400" dirty="0"/>
          </a:p>
        </p:txBody>
      </p:sp>
      <p:sp>
        <p:nvSpPr>
          <p:cNvPr id="9" name="Shape 7"/>
          <p:cNvSpPr/>
          <p:nvPr/>
        </p:nvSpPr>
        <p:spPr>
          <a:xfrm>
            <a:off x="640080" y="3355848"/>
            <a:ext cx="109728" cy="109728"/>
          </a:xfrm>
          <a:prstGeom prst="ellipse">
            <a:avLst/>
          </a:prstGeom>
          <a:solidFill>
            <a:srgbClr val="F2A65A"/>
          </a:solidFill>
          <a:ln/>
        </p:spPr>
        <p:txBody>
          <a:bodyPr/>
          <a:lstStyle/>
          <a:p>
            <a:endParaRPr lang="es-PE"/>
          </a:p>
        </p:txBody>
      </p:sp>
      <p:sp>
        <p:nvSpPr>
          <p:cNvPr id="10" name="Text 8"/>
          <p:cNvSpPr/>
          <p:nvPr/>
        </p:nvSpPr>
        <p:spPr>
          <a:xfrm>
            <a:off x="914400" y="3246120"/>
            <a:ext cx="10241280" cy="41148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Paneles con IA que resumen información en vez de armarla a mano.</a:t>
            </a:r>
            <a:endParaRPr lang="en-US" sz="1400" dirty="0"/>
          </a:p>
        </p:txBody>
      </p:sp>
      <p:sp>
        <p:nvSpPr>
          <p:cNvPr id="11" name="Shape 9"/>
          <p:cNvSpPr/>
          <p:nvPr/>
        </p:nvSpPr>
        <p:spPr>
          <a:xfrm>
            <a:off x="640080" y="3858768"/>
            <a:ext cx="109728" cy="109728"/>
          </a:xfrm>
          <a:prstGeom prst="ellipse">
            <a:avLst/>
          </a:prstGeom>
          <a:solidFill>
            <a:srgbClr val="F2A65A"/>
          </a:solidFill>
          <a:ln/>
        </p:spPr>
        <p:txBody>
          <a:bodyPr/>
          <a:lstStyle/>
          <a:p>
            <a:endParaRPr lang="es-PE"/>
          </a:p>
        </p:txBody>
      </p:sp>
      <p:sp>
        <p:nvSpPr>
          <p:cNvPr id="12" name="Text 10"/>
          <p:cNvSpPr/>
          <p:nvPr/>
        </p:nvSpPr>
        <p:spPr>
          <a:xfrm>
            <a:off x="914400" y="3749040"/>
            <a:ext cx="10241280" cy="41148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Ejemplo de dolor que resuelve: “se me pasan mensajes y pierdo ventas”.</a:t>
            </a:r>
            <a:endParaRPr lang="en-US" sz="1400" dirty="0"/>
          </a:p>
        </p:txBody>
      </p:sp>
      <p:sp>
        <p:nvSpPr>
          <p:cNvPr id="13" name="Text 11"/>
          <p:cNvSpPr/>
          <p:nvPr/>
        </p:nvSpPr>
        <p:spPr>
          <a:xfrm>
            <a:off x="11548872" y="6400800"/>
            <a:ext cx="457200" cy="320040"/>
          </a:xfrm>
          <a:prstGeom prst="rect">
            <a:avLst/>
          </a:prstGeom>
          <a:noFill/>
          <a:ln/>
        </p:spPr>
        <p:txBody>
          <a:bodyPr wrap="square" rtlCol="0" anchor="ctr"/>
          <a:lstStyle/>
          <a:p>
            <a:pPr marL="0" indent="0" algn="r">
              <a:buNone/>
            </a:pPr>
            <a:r>
              <a:rPr lang="en-US" sz="1100" dirty="0">
                <a:solidFill>
                  <a:srgbClr val="AAB4BE"/>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SERVICIO 4 DE 4</a:t>
            </a:r>
            <a:endParaRPr lang="en-US" sz="1300" dirty="0"/>
          </a:p>
        </p:txBody>
      </p:sp>
      <p:sp>
        <p:nvSpPr>
          <p:cNvPr id="3" name="Shape 1"/>
          <p:cNvSpPr/>
          <p:nvPr/>
        </p:nvSpPr>
        <p:spPr>
          <a:xfrm>
            <a:off x="548640" y="1005840"/>
            <a:ext cx="1005840" cy="1005840"/>
          </a:xfrm>
          <a:prstGeom prst="ellipse">
            <a:avLst/>
          </a:prstGeom>
          <a:solidFill>
            <a:srgbClr val="065A82"/>
          </a:solidFill>
          <a:ln/>
        </p:spPr>
        <p:txBody>
          <a:bodyPr/>
          <a:lstStyle/>
          <a:p>
            <a:endParaRPr lang="es-PE"/>
          </a:p>
        </p:txBody>
      </p:sp>
      <p:sp>
        <p:nvSpPr>
          <p:cNvPr id="4" name="Text 2"/>
          <p:cNvSpPr/>
          <p:nvPr/>
        </p:nvSpPr>
        <p:spPr>
          <a:xfrm>
            <a:off x="548640" y="1005840"/>
            <a:ext cx="1005840" cy="1005840"/>
          </a:xfrm>
          <a:prstGeom prst="rect">
            <a:avLst/>
          </a:prstGeom>
          <a:noFill/>
          <a:ln/>
        </p:spPr>
        <p:txBody>
          <a:bodyPr wrap="square" rtlCol="0" anchor="ctr"/>
          <a:lstStyle/>
          <a:p>
            <a:pPr marL="0" indent="0" algn="ctr">
              <a:buNone/>
            </a:pPr>
            <a:r>
              <a:rPr lang="en-US" sz="3400" b="1" dirty="0">
                <a:solidFill>
                  <a:srgbClr val="FFFFFF"/>
                </a:solidFill>
                <a:latin typeface="Calibri" pitchFamily="34" charset="0"/>
                <a:ea typeface="Calibri" pitchFamily="34" charset="-122"/>
                <a:cs typeface="Calibri" pitchFamily="34" charset="-120"/>
              </a:rPr>
              <a:t>4</a:t>
            </a:r>
            <a:endParaRPr lang="en-US" sz="3400" dirty="0"/>
          </a:p>
        </p:txBody>
      </p:sp>
      <p:sp>
        <p:nvSpPr>
          <p:cNvPr id="5" name="Text 3"/>
          <p:cNvSpPr/>
          <p:nvPr/>
        </p:nvSpPr>
        <p:spPr>
          <a:xfrm>
            <a:off x="1828800" y="1051560"/>
            <a:ext cx="9144000" cy="822960"/>
          </a:xfrm>
          <a:prstGeom prst="rect">
            <a:avLst/>
          </a:prstGeom>
          <a:noFill/>
          <a:ln/>
        </p:spPr>
        <p:txBody>
          <a:bodyPr wrap="square" rtlCol="0" anchor="ctr"/>
          <a:lstStyle/>
          <a:p>
            <a:pPr marL="0" indent="0">
              <a:buNone/>
            </a:pPr>
            <a:r>
              <a:rPr lang="en-US" sz="2800" b="1" dirty="0">
                <a:solidFill>
                  <a:srgbClr val="1A1A2E"/>
                </a:solidFill>
                <a:latin typeface="Cambria" pitchFamily="34" charset="0"/>
                <a:ea typeface="Cambria" pitchFamily="34" charset="-122"/>
                <a:cs typeface="Cambria" pitchFamily="34" charset="-120"/>
              </a:rPr>
              <a:t>MVPs para startups</a:t>
            </a:r>
            <a:endParaRPr lang="en-US" sz="2800" dirty="0"/>
          </a:p>
        </p:txBody>
      </p:sp>
      <p:sp>
        <p:nvSpPr>
          <p:cNvPr id="6" name="Text 4"/>
          <p:cNvSpPr/>
          <p:nvPr/>
        </p:nvSpPr>
        <p:spPr>
          <a:xfrm>
            <a:off x="1828800" y="1783080"/>
            <a:ext cx="9509760" cy="640080"/>
          </a:xfrm>
          <a:prstGeom prst="rect">
            <a:avLst/>
          </a:prstGeom>
          <a:noFill/>
          <a:ln/>
        </p:spPr>
        <p:txBody>
          <a:bodyPr wrap="square" rtlCol="0" anchor="ctr"/>
          <a:lstStyle/>
          <a:p>
            <a:pPr marL="0" indent="0">
              <a:buNone/>
            </a:pPr>
            <a:r>
              <a:rPr lang="en-US" sz="1500" dirty="0">
                <a:solidFill>
                  <a:srgbClr val="5B6472"/>
                </a:solidFill>
                <a:latin typeface="Calibri" pitchFamily="34" charset="0"/>
                <a:ea typeface="Calibri" pitchFamily="34" charset="-122"/>
                <a:cs typeface="Calibri" pitchFamily="34" charset="-120"/>
              </a:rPr>
              <a:t>Producto funcional para validar una idea en semanas, no en meses.</a:t>
            </a:r>
            <a:endParaRPr lang="en-US" sz="1500" dirty="0"/>
          </a:p>
        </p:txBody>
      </p:sp>
      <p:sp>
        <p:nvSpPr>
          <p:cNvPr id="7" name="Shape 5"/>
          <p:cNvSpPr/>
          <p:nvPr/>
        </p:nvSpPr>
        <p:spPr>
          <a:xfrm>
            <a:off x="640080" y="2852928"/>
            <a:ext cx="109728" cy="109728"/>
          </a:xfrm>
          <a:prstGeom prst="ellipse">
            <a:avLst/>
          </a:prstGeom>
          <a:solidFill>
            <a:srgbClr val="F2A65A"/>
          </a:solidFill>
          <a:ln/>
        </p:spPr>
        <p:txBody>
          <a:bodyPr/>
          <a:lstStyle/>
          <a:p>
            <a:endParaRPr lang="es-PE"/>
          </a:p>
        </p:txBody>
      </p:sp>
      <p:sp>
        <p:nvSpPr>
          <p:cNvPr id="8" name="Text 6"/>
          <p:cNvSpPr/>
          <p:nvPr/>
        </p:nvSpPr>
        <p:spPr>
          <a:xfrm>
            <a:off x="914400" y="2743200"/>
            <a:ext cx="10241280" cy="41148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Pensado para fundadores que necesitan probar antes de invertir en grande.</a:t>
            </a:r>
            <a:endParaRPr lang="en-US" sz="1400" dirty="0"/>
          </a:p>
        </p:txBody>
      </p:sp>
      <p:sp>
        <p:nvSpPr>
          <p:cNvPr id="9" name="Shape 7"/>
          <p:cNvSpPr/>
          <p:nvPr/>
        </p:nvSpPr>
        <p:spPr>
          <a:xfrm>
            <a:off x="640080" y="3355848"/>
            <a:ext cx="109728" cy="109728"/>
          </a:xfrm>
          <a:prstGeom prst="ellipse">
            <a:avLst/>
          </a:prstGeom>
          <a:solidFill>
            <a:srgbClr val="F2A65A"/>
          </a:solidFill>
          <a:ln/>
        </p:spPr>
        <p:txBody>
          <a:bodyPr/>
          <a:lstStyle/>
          <a:p>
            <a:endParaRPr lang="es-PE"/>
          </a:p>
        </p:txBody>
      </p:sp>
      <p:sp>
        <p:nvSpPr>
          <p:cNvPr id="10" name="Text 8"/>
          <p:cNvSpPr/>
          <p:nvPr/>
        </p:nvSpPr>
        <p:spPr>
          <a:xfrm>
            <a:off x="914400" y="3246120"/>
            <a:ext cx="10241280" cy="41148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Primera versión usable, no solo una maqueta o diseño estático.</a:t>
            </a:r>
            <a:endParaRPr lang="en-US" sz="1400" dirty="0"/>
          </a:p>
        </p:txBody>
      </p:sp>
      <p:sp>
        <p:nvSpPr>
          <p:cNvPr id="11" name="Shape 9"/>
          <p:cNvSpPr/>
          <p:nvPr/>
        </p:nvSpPr>
        <p:spPr>
          <a:xfrm>
            <a:off x="640080" y="3858768"/>
            <a:ext cx="109728" cy="109728"/>
          </a:xfrm>
          <a:prstGeom prst="ellipse">
            <a:avLst/>
          </a:prstGeom>
          <a:solidFill>
            <a:srgbClr val="F2A65A"/>
          </a:solidFill>
          <a:ln/>
        </p:spPr>
        <p:txBody>
          <a:bodyPr/>
          <a:lstStyle/>
          <a:p>
            <a:endParaRPr lang="es-PE"/>
          </a:p>
        </p:txBody>
      </p:sp>
      <p:sp>
        <p:nvSpPr>
          <p:cNvPr id="12" name="Text 10"/>
          <p:cNvSpPr/>
          <p:nvPr/>
        </p:nvSpPr>
        <p:spPr>
          <a:xfrm>
            <a:off x="914400" y="3749040"/>
            <a:ext cx="10241280" cy="41148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Ejemplo de dolor que resuelve: “no sé si mi idea funciona antes de gastar en desarrollo completo”.</a:t>
            </a:r>
            <a:endParaRPr lang="en-US" sz="1400" dirty="0"/>
          </a:p>
        </p:txBody>
      </p:sp>
      <p:sp>
        <p:nvSpPr>
          <p:cNvPr id="13" name="Text 11"/>
          <p:cNvSpPr/>
          <p:nvPr/>
        </p:nvSpPr>
        <p:spPr>
          <a:xfrm>
            <a:off x="11548872" y="6400800"/>
            <a:ext cx="457200" cy="320040"/>
          </a:xfrm>
          <a:prstGeom prst="rect">
            <a:avLst/>
          </a:prstGeom>
          <a:noFill/>
          <a:ln/>
        </p:spPr>
        <p:txBody>
          <a:bodyPr wrap="square" rtlCol="0" anchor="ctr"/>
          <a:lstStyle/>
          <a:p>
            <a:pPr marL="0" indent="0" algn="r">
              <a:buNone/>
            </a:pPr>
            <a:r>
              <a:rPr lang="en-US" sz="1100" dirty="0">
                <a:solidFill>
                  <a:srgbClr val="AAB4BE"/>
                </a:solidFill>
                <a:latin typeface="Calibri" pitchFamily="34" charset="0"/>
                <a:ea typeface="Calibri" pitchFamily="34" charset="-122"/>
                <a:cs typeface="Calibri"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ESCENA 4 — CÓMO TRABAJAMOS</a:t>
            </a:r>
            <a:endParaRPr lang="en-US" sz="1300" dirty="0"/>
          </a:p>
        </p:txBody>
      </p:sp>
      <p:sp>
        <p:nvSpPr>
          <p:cNvPr id="3" name="Text 1"/>
          <p:cNvSpPr/>
          <p:nvPr/>
        </p:nvSpPr>
        <p:spPr>
          <a:xfrm>
            <a:off x="548640" y="822960"/>
            <a:ext cx="8229600" cy="640080"/>
          </a:xfrm>
          <a:prstGeom prst="rect">
            <a:avLst/>
          </a:prstGeom>
          <a:noFill/>
          <a:ln/>
        </p:spPr>
        <p:txBody>
          <a:bodyPr wrap="square" rtlCol="0" anchor="ctr"/>
          <a:lstStyle/>
          <a:p>
            <a:pPr marL="0" indent="0">
              <a:buNone/>
            </a:pPr>
            <a:r>
              <a:rPr lang="en-US" sz="2600" b="1" dirty="0">
                <a:solidFill>
                  <a:srgbClr val="1A1A2E"/>
                </a:solidFill>
                <a:latin typeface="Cambria" pitchFamily="34" charset="0"/>
                <a:ea typeface="Cambria" pitchFamily="34" charset="-122"/>
                <a:cs typeface="Cambria" pitchFamily="34" charset="-120"/>
              </a:rPr>
              <a:t>De la idea al lanzamiento</a:t>
            </a:r>
            <a:endParaRPr lang="en-US" sz="2600" dirty="0"/>
          </a:p>
        </p:txBody>
      </p:sp>
      <p:sp>
        <p:nvSpPr>
          <p:cNvPr id="4" name="Shape 2"/>
          <p:cNvSpPr/>
          <p:nvPr/>
        </p:nvSpPr>
        <p:spPr>
          <a:xfrm>
            <a:off x="1805940" y="2606040"/>
            <a:ext cx="8366760" cy="27432"/>
          </a:xfrm>
          <a:prstGeom prst="rect">
            <a:avLst/>
          </a:prstGeom>
          <a:solidFill>
            <a:srgbClr val="D8DEE6"/>
          </a:solidFill>
          <a:ln/>
        </p:spPr>
        <p:txBody>
          <a:bodyPr/>
          <a:lstStyle/>
          <a:p>
            <a:endParaRPr lang="es-PE"/>
          </a:p>
        </p:txBody>
      </p:sp>
      <p:sp>
        <p:nvSpPr>
          <p:cNvPr id="5" name="Shape 3"/>
          <p:cNvSpPr/>
          <p:nvPr/>
        </p:nvSpPr>
        <p:spPr>
          <a:xfrm>
            <a:off x="1485900" y="2286000"/>
            <a:ext cx="640080" cy="640080"/>
          </a:xfrm>
          <a:prstGeom prst="ellipse">
            <a:avLst/>
          </a:prstGeom>
          <a:solidFill>
            <a:srgbClr val="1C7293"/>
          </a:solidFill>
          <a:ln/>
        </p:spPr>
        <p:txBody>
          <a:bodyPr/>
          <a:lstStyle/>
          <a:p>
            <a:endParaRPr lang="es-PE"/>
          </a:p>
        </p:txBody>
      </p:sp>
      <p:sp>
        <p:nvSpPr>
          <p:cNvPr id="6" name="Text 4"/>
          <p:cNvSpPr/>
          <p:nvPr/>
        </p:nvSpPr>
        <p:spPr>
          <a:xfrm>
            <a:off x="1485900" y="2286000"/>
            <a:ext cx="640080" cy="64008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7" name="Text 5"/>
          <p:cNvSpPr/>
          <p:nvPr/>
        </p:nvSpPr>
        <p:spPr>
          <a:xfrm>
            <a:off x="548640" y="3154680"/>
            <a:ext cx="2514600" cy="365760"/>
          </a:xfrm>
          <a:prstGeom prst="rect">
            <a:avLst/>
          </a:prstGeom>
          <a:noFill/>
          <a:ln/>
        </p:spPr>
        <p:txBody>
          <a:bodyPr wrap="square" rtlCol="0" anchor="ctr"/>
          <a:lstStyle/>
          <a:p>
            <a:pPr marL="0" indent="0" algn="ctr">
              <a:buNone/>
            </a:pPr>
            <a:r>
              <a:rPr lang="en-US" sz="1600" b="1" dirty="0">
                <a:solidFill>
                  <a:srgbClr val="1A1A2E"/>
                </a:solidFill>
                <a:latin typeface="Calibri" pitchFamily="34" charset="0"/>
                <a:ea typeface="Calibri" pitchFamily="34" charset="-122"/>
                <a:cs typeface="Calibri" pitchFamily="34" charset="-120"/>
              </a:rPr>
              <a:t>Diagnóstico</a:t>
            </a:r>
            <a:endParaRPr lang="en-US" sz="1600" dirty="0"/>
          </a:p>
        </p:txBody>
      </p:sp>
      <p:sp>
        <p:nvSpPr>
          <p:cNvPr id="8" name="Text 6"/>
          <p:cNvSpPr/>
          <p:nvPr/>
        </p:nvSpPr>
        <p:spPr>
          <a:xfrm>
            <a:off x="548640" y="3566160"/>
            <a:ext cx="2514600" cy="1371600"/>
          </a:xfrm>
          <a:prstGeom prst="rect">
            <a:avLst/>
          </a:prstGeom>
          <a:noFill/>
          <a:ln/>
        </p:spPr>
        <p:txBody>
          <a:bodyPr wrap="square" rtlCol="0" anchor="ctr"/>
          <a:lstStyle/>
          <a:p>
            <a:pPr marL="0" indent="0" algn="ctr">
              <a:buNone/>
            </a:pPr>
            <a:r>
              <a:rPr lang="en-US" sz="1250" dirty="0">
                <a:solidFill>
                  <a:srgbClr val="5B6472"/>
                </a:solidFill>
                <a:latin typeface="Calibri" pitchFamily="34" charset="0"/>
                <a:ea typeface="Calibri" pitchFamily="34" charset="-122"/>
                <a:cs typeface="Calibri" pitchFamily="34" charset="-120"/>
              </a:rPr>
              <a:t>Entendemos el negocio, su flujo actual y qué lo está frenando.</a:t>
            </a:r>
            <a:endParaRPr lang="en-US" sz="1250" dirty="0"/>
          </a:p>
        </p:txBody>
      </p:sp>
      <p:sp>
        <p:nvSpPr>
          <p:cNvPr id="9" name="Shape 7"/>
          <p:cNvSpPr/>
          <p:nvPr/>
        </p:nvSpPr>
        <p:spPr>
          <a:xfrm>
            <a:off x="4274820" y="2286000"/>
            <a:ext cx="640080" cy="640080"/>
          </a:xfrm>
          <a:prstGeom prst="ellipse">
            <a:avLst/>
          </a:prstGeom>
          <a:solidFill>
            <a:srgbClr val="1C7293"/>
          </a:solidFill>
          <a:ln/>
        </p:spPr>
        <p:txBody>
          <a:bodyPr/>
          <a:lstStyle/>
          <a:p>
            <a:endParaRPr lang="es-PE"/>
          </a:p>
        </p:txBody>
      </p:sp>
      <p:sp>
        <p:nvSpPr>
          <p:cNvPr id="10" name="Text 8"/>
          <p:cNvSpPr/>
          <p:nvPr/>
        </p:nvSpPr>
        <p:spPr>
          <a:xfrm>
            <a:off x="4274820" y="2286000"/>
            <a:ext cx="640080" cy="64008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1" name="Text 9"/>
          <p:cNvSpPr/>
          <p:nvPr/>
        </p:nvSpPr>
        <p:spPr>
          <a:xfrm>
            <a:off x="3337560" y="3154680"/>
            <a:ext cx="2514600" cy="365760"/>
          </a:xfrm>
          <a:prstGeom prst="rect">
            <a:avLst/>
          </a:prstGeom>
          <a:noFill/>
          <a:ln/>
        </p:spPr>
        <p:txBody>
          <a:bodyPr wrap="square" rtlCol="0" anchor="ctr"/>
          <a:lstStyle/>
          <a:p>
            <a:pPr marL="0" indent="0" algn="ctr">
              <a:buNone/>
            </a:pPr>
            <a:r>
              <a:rPr lang="en-US" sz="1600" b="1" dirty="0">
                <a:solidFill>
                  <a:srgbClr val="1A1A2E"/>
                </a:solidFill>
                <a:latin typeface="Calibri" pitchFamily="34" charset="0"/>
                <a:ea typeface="Calibri" pitchFamily="34" charset="-122"/>
                <a:cs typeface="Calibri" pitchFamily="34" charset="-120"/>
              </a:rPr>
              <a:t>Prototipo</a:t>
            </a:r>
            <a:endParaRPr lang="en-US" sz="1600" dirty="0"/>
          </a:p>
        </p:txBody>
      </p:sp>
      <p:sp>
        <p:nvSpPr>
          <p:cNvPr id="12" name="Text 10"/>
          <p:cNvSpPr/>
          <p:nvPr/>
        </p:nvSpPr>
        <p:spPr>
          <a:xfrm>
            <a:off x="3337560" y="3566160"/>
            <a:ext cx="2514600" cy="1371600"/>
          </a:xfrm>
          <a:prstGeom prst="rect">
            <a:avLst/>
          </a:prstGeom>
          <a:noFill/>
          <a:ln/>
        </p:spPr>
        <p:txBody>
          <a:bodyPr wrap="square" rtlCol="0" anchor="ctr"/>
          <a:lstStyle/>
          <a:p>
            <a:pPr marL="0" indent="0" algn="ctr">
              <a:buNone/>
            </a:pPr>
            <a:r>
              <a:rPr lang="en-US" sz="1250" dirty="0">
                <a:solidFill>
                  <a:srgbClr val="5B6472"/>
                </a:solidFill>
                <a:latin typeface="Calibri" pitchFamily="34" charset="0"/>
                <a:ea typeface="Calibri" pitchFamily="34" charset="-122"/>
                <a:cs typeface="Calibri" pitchFamily="34" charset="-120"/>
              </a:rPr>
              <a:t>Primera versión funcional que el cliente puede probar en días.</a:t>
            </a:r>
            <a:endParaRPr lang="en-US" sz="1250" dirty="0"/>
          </a:p>
        </p:txBody>
      </p:sp>
      <p:sp>
        <p:nvSpPr>
          <p:cNvPr id="13" name="Shape 11"/>
          <p:cNvSpPr/>
          <p:nvPr/>
        </p:nvSpPr>
        <p:spPr>
          <a:xfrm>
            <a:off x="7063740" y="2286000"/>
            <a:ext cx="640080" cy="640080"/>
          </a:xfrm>
          <a:prstGeom prst="ellipse">
            <a:avLst/>
          </a:prstGeom>
          <a:solidFill>
            <a:srgbClr val="1C7293"/>
          </a:solidFill>
          <a:ln/>
        </p:spPr>
        <p:txBody>
          <a:bodyPr/>
          <a:lstStyle/>
          <a:p>
            <a:endParaRPr lang="es-PE"/>
          </a:p>
        </p:txBody>
      </p:sp>
      <p:sp>
        <p:nvSpPr>
          <p:cNvPr id="14" name="Text 12"/>
          <p:cNvSpPr/>
          <p:nvPr/>
        </p:nvSpPr>
        <p:spPr>
          <a:xfrm>
            <a:off x="7063740" y="2286000"/>
            <a:ext cx="640080" cy="64008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5" name="Text 13"/>
          <p:cNvSpPr/>
          <p:nvPr/>
        </p:nvSpPr>
        <p:spPr>
          <a:xfrm>
            <a:off x="6126480" y="3154680"/>
            <a:ext cx="2514600" cy="365760"/>
          </a:xfrm>
          <a:prstGeom prst="rect">
            <a:avLst/>
          </a:prstGeom>
          <a:noFill/>
          <a:ln/>
        </p:spPr>
        <p:txBody>
          <a:bodyPr wrap="square" rtlCol="0" anchor="ctr"/>
          <a:lstStyle/>
          <a:p>
            <a:pPr marL="0" indent="0" algn="ctr">
              <a:buNone/>
            </a:pPr>
            <a:r>
              <a:rPr lang="en-US" sz="1600" b="1" dirty="0">
                <a:solidFill>
                  <a:srgbClr val="1A1A2E"/>
                </a:solidFill>
                <a:latin typeface="Calibri" pitchFamily="34" charset="0"/>
                <a:ea typeface="Calibri" pitchFamily="34" charset="-122"/>
                <a:cs typeface="Calibri" pitchFamily="34" charset="-120"/>
              </a:rPr>
              <a:t>Desarrollo</a:t>
            </a:r>
            <a:endParaRPr lang="en-US" sz="1600" dirty="0"/>
          </a:p>
        </p:txBody>
      </p:sp>
      <p:sp>
        <p:nvSpPr>
          <p:cNvPr id="16" name="Text 14"/>
          <p:cNvSpPr/>
          <p:nvPr/>
        </p:nvSpPr>
        <p:spPr>
          <a:xfrm>
            <a:off x="6126480" y="3566160"/>
            <a:ext cx="2514600" cy="1371600"/>
          </a:xfrm>
          <a:prstGeom prst="rect">
            <a:avLst/>
          </a:prstGeom>
          <a:noFill/>
          <a:ln/>
        </p:spPr>
        <p:txBody>
          <a:bodyPr wrap="square" rtlCol="0" anchor="ctr"/>
          <a:lstStyle/>
          <a:p>
            <a:pPr marL="0" indent="0" algn="ctr">
              <a:buNone/>
            </a:pPr>
            <a:r>
              <a:rPr lang="en-US" sz="1250" dirty="0">
                <a:solidFill>
                  <a:srgbClr val="5B6472"/>
                </a:solidFill>
                <a:latin typeface="Calibri" pitchFamily="34" charset="0"/>
                <a:ea typeface="Calibri" pitchFamily="34" charset="-122"/>
                <a:cs typeface="Calibri" pitchFamily="34" charset="-120"/>
              </a:rPr>
              <a:t>Se ajusta con el cliente hasta que resuelva exactamente lo que necesita.</a:t>
            </a:r>
            <a:endParaRPr lang="en-US" sz="1250" dirty="0"/>
          </a:p>
        </p:txBody>
      </p:sp>
      <p:sp>
        <p:nvSpPr>
          <p:cNvPr id="17" name="Shape 15"/>
          <p:cNvSpPr/>
          <p:nvPr/>
        </p:nvSpPr>
        <p:spPr>
          <a:xfrm>
            <a:off x="9852660" y="2286000"/>
            <a:ext cx="640080" cy="640080"/>
          </a:xfrm>
          <a:prstGeom prst="ellipse">
            <a:avLst/>
          </a:prstGeom>
          <a:solidFill>
            <a:srgbClr val="1C7293"/>
          </a:solidFill>
          <a:ln/>
        </p:spPr>
        <p:txBody>
          <a:bodyPr/>
          <a:lstStyle/>
          <a:p>
            <a:endParaRPr lang="es-PE"/>
          </a:p>
        </p:txBody>
      </p:sp>
      <p:sp>
        <p:nvSpPr>
          <p:cNvPr id="18" name="Text 16"/>
          <p:cNvSpPr/>
          <p:nvPr/>
        </p:nvSpPr>
        <p:spPr>
          <a:xfrm>
            <a:off x="9852660" y="2286000"/>
            <a:ext cx="640080" cy="64008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19" name="Text 17"/>
          <p:cNvSpPr/>
          <p:nvPr/>
        </p:nvSpPr>
        <p:spPr>
          <a:xfrm>
            <a:off x="8915400" y="3154680"/>
            <a:ext cx="2514600" cy="365760"/>
          </a:xfrm>
          <a:prstGeom prst="rect">
            <a:avLst/>
          </a:prstGeom>
          <a:noFill/>
          <a:ln/>
        </p:spPr>
        <p:txBody>
          <a:bodyPr wrap="square" rtlCol="0" anchor="ctr"/>
          <a:lstStyle/>
          <a:p>
            <a:pPr marL="0" indent="0" algn="ctr">
              <a:buNone/>
            </a:pPr>
            <a:r>
              <a:rPr lang="en-US" sz="1600" b="1" dirty="0">
                <a:solidFill>
                  <a:srgbClr val="1A1A2E"/>
                </a:solidFill>
                <a:latin typeface="Calibri" pitchFamily="34" charset="0"/>
                <a:ea typeface="Calibri" pitchFamily="34" charset="-122"/>
                <a:cs typeface="Calibri" pitchFamily="34" charset="-120"/>
              </a:rPr>
              <a:t>Lanzamiento</a:t>
            </a:r>
            <a:endParaRPr lang="en-US" sz="1600" dirty="0"/>
          </a:p>
        </p:txBody>
      </p:sp>
      <p:sp>
        <p:nvSpPr>
          <p:cNvPr id="20" name="Text 18"/>
          <p:cNvSpPr/>
          <p:nvPr/>
        </p:nvSpPr>
        <p:spPr>
          <a:xfrm>
            <a:off x="8915400" y="3566160"/>
            <a:ext cx="2514600" cy="1371600"/>
          </a:xfrm>
          <a:prstGeom prst="rect">
            <a:avLst/>
          </a:prstGeom>
          <a:noFill/>
          <a:ln/>
        </p:spPr>
        <p:txBody>
          <a:bodyPr wrap="square" rtlCol="0" anchor="ctr"/>
          <a:lstStyle/>
          <a:p>
            <a:pPr marL="0" indent="0" algn="ctr">
              <a:buNone/>
            </a:pPr>
            <a:r>
              <a:rPr lang="en-US" sz="1250" dirty="0">
                <a:solidFill>
                  <a:srgbClr val="5B6472"/>
                </a:solidFill>
                <a:latin typeface="Calibri" pitchFamily="34" charset="0"/>
                <a:ea typeface="Calibri" pitchFamily="34" charset="-122"/>
                <a:cs typeface="Calibri" pitchFamily="34" charset="-120"/>
              </a:rPr>
              <a:t>La app queda en producción, con soporte continuo.</a:t>
            </a:r>
            <a:endParaRPr lang="en-US" sz="1250" dirty="0"/>
          </a:p>
        </p:txBody>
      </p:sp>
      <p:sp>
        <p:nvSpPr>
          <p:cNvPr id="21" name="Text 19"/>
          <p:cNvSpPr/>
          <p:nvPr/>
        </p:nvSpPr>
        <p:spPr>
          <a:xfrm>
            <a:off x="11548872" y="6400800"/>
            <a:ext cx="457200" cy="320040"/>
          </a:xfrm>
          <a:prstGeom prst="rect">
            <a:avLst/>
          </a:prstGeom>
          <a:noFill/>
          <a:ln/>
        </p:spPr>
        <p:txBody>
          <a:bodyPr wrap="square" rtlCol="0" anchor="ctr"/>
          <a:lstStyle/>
          <a:p>
            <a:pPr marL="0" indent="0" algn="r">
              <a:buNone/>
            </a:pPr>
            <a:r>
              <a:rPr lang="en-US" sz="1100" dirty="0">
                <a:solidFill>
                  <a:srgbClr val="AAB4BE"/>
                </a:solidFill>
                <a:latin typeface="Calibri" pitchFamily="34" charset="0"/>
                <a:ea typeface="Calibri" pitchFamily="34" charset="-122"/>
                <a:cs typeface="Calibri"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1295C"/>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rtlCol="0" anchor="ctr"/>
          <a:lstStyle/>
          <a:p>
            <a:pPr marL="0" indent="0">
              <a:buNone/>
            </a:pPr>
            <a:r>
              <a:rPr lang="en-US" sz="1300" b="1" kern="0" spc="200" dirty="0">
                <a:solidFill>
                  <a:srgbClr val="F2A65A"/>
                </a:solidFill>
                <a:latin typeface="Calibri" pitchFamily="34" charset="0"/>
                <a:ea typeface="Calibri" pitchFamily="34" charset="-122"/>
                <a:cs typeface="Calibri" pitchFamily="34" charset="-120"/>
              </a:rPr>
              <a:t>ESCENA 5 — POR QUÉ ELEGIRNOS</a:t>
            </a:r>
            <a:endParaRPr lang="en-US" sz="1300" dirty="0"/>
          </a:p>
        </p:txBody>
      </p:sp>
      <p:sp>
        <p:nvSpPr>
          <p:cNvPr id="3" name="Text 1"/>
          <p:cNvSpPr/>
          <p:nvPr/>
        </p:nvSpPr>
        <p:spPr>
          <a:xfrm>
            <a:off x="548640" y="822960"/>
            <a:ext cx="10058400" cy="64008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Tres cosas que la competencia no dice</a:t>
            </a:r>
            <a:endParaRPr lang="en-US" sz="2600" dirty="0"/>
          </a:p>
        </p:txBody>
      </p:sp>
      <p:sp>
        <p:nvSpPr>
          <p:cNvPr id="4" name="Shape 2"/>
          <p:cNvSpPr/>
          <p:nvPr/>
        </p:nvSpPr>
        <p:spPr>
          <a:xfrm>
            <a:off x="548640" y="1920240"/>
            <a:ext cx="11064240" cy="1371600"/>
          </a:xfrm>
          <a:prstGeom prst="roundRect">
            <a:avLst>
              <a:gd name="adj" fmla="val 6667"/>
            </a:avLst>
          </a:prstGeom>
          <a:solidFill>
            <a:srgbClr val="2B3468"/>
          </a:solidFill>
          <a:ln/>
        </p:spPr>
        <p:txBody>
          <a:bodyPr/>
          <a:lstStyle/>
          <a:p>
            <a:endParaRPr lang="es-PE"/>
          </a:p>
        </p:txBody>
      </p:sp>
      <p:sp>
        <p:nvSpPr>
          <p:cNvPr id="5" name="Shape 3"/>
          <p:cNvSpPr/>
          <p:nvPr/>
        </p:nvSpPr>
        <p:spPr>
          <a:xfrm>
            <a:off x="822960" y="2331720"/>
            <a:ext cx="548640" cy="548640"/>
          </a:xfrm>
          <a:prstGeom prst="ellipse">
            <a:avLst/>
          </a:prstGeom>
          <a:solidFill>
            <a:srgbClr val="F2A65A"/>
          </a:solidFill>
          <a:ln/>
        </p:spPr>
        <p:txBody>
          <a:bodyPr/>
          <a:lstStyle/>
          <a:p>
            <a:endParaRPr lang="es-PE"/>
          </a:p>
        </p:txBody>
      </p:sp>
      <p:sp>
        <p:nvSpPr>
          <p:cNvPr id="6" name="Text 4"/>
          <p:cNvSpPr/>
          <p:nvPr/>
        </p:nvSpPr>
        <p:spPr>
          <a:xfrm>
            <a:off x="822960" y="2331720"/>
            <a:ext cx="548640" cy="548640"/>
          </a:xfrm>
          <a:prstGeom prst="rect">
            <a:avLst/>
          </a:prstGeom>
          <a:noFill/>
          <a:ln/>
        </p:spPr>
        <p:txBody>
          <a:bodyPr wrap="square" rtlCol="0" anchor="ctr"/>
          <a:lstStyle/>
          <a:p>
            <a:pPr marL="0" indent="0" algn="ctr">
              <a:buNone/>
            </a:pPr>
            <a:r>
              <a:rPr lang="en-US" sz="2200" b="1" dirty="0">
                <a:solidFill>
                  <a:srgbClr val="21295C"/>
                </a:solidFill>
                <a:latin typeface="Calibri" pitchFamily="34" charset="0"/>
                <a:ea typeface="Calibri" pitchFamily="34" charset="-122"/>
                <a:cs typeface="Calibri" pitchFamily="34" charset="-120"/>
              </a:rPr>
              <a:t>1</a:t>
            </a:r>
            <a:endParaRPr lang="en-US" sz="2200" dirty="0"/>
          </a:p>
        </p:txBody>
      </p:sp>
      <p:sp>
        <p:nvSpPr>
          <p:cNvPr id="7" name="Text 5"/>
          <p:cNvSpPr/>
          <p:nvPr/>
        </p:nvSpPr>
        <p:spPr>
          <a:xfrm>
            <a:off x="1645920" y="2103120"/>
            <a:ext cx="9692640" cy="1005840"/>
          </a:xfrm>
          <a:prstGeom prst="rect">
            <a:avLst/>
          </a:prstGeom>
          <a:noFill/>
          <a:ln/>
        </p:spPr>
        <p:txBody>
          <a:bodyPr wrap="square" rtlCol="0" anchor="ctr"/>
          <a:lstStyle/>
          <a:p>
            <a:pPr marL="0" indent="0">
              <a:buNone/>
            </a:pPr>
            <a:r>
              <a:rPr lang="en-US" sz="1500" dirty="0">
                <a:solidFill>
                  <a:srgbClr val="F2F2F2"/>
                </a:solidFill>
                <a:latin typeface="Calibri" pitchFamily="34" charset="0"/>
                <a:ea typeface="Calibri" pitchFamily="34" charset="-122"/>
                <a:cs typeface="Calibri" pitchFamily="34" charset="-120"/>
              </a:rPr>
              <a:t>No entregamos el código y desaparecemos: seguimos disponibles para ajustar la app a como trabaja el negocio, no al revés.</a:t>
            </a:r>
            <a:endParaRPr lang="en-US" sz="1500" dirty="0"/>
          </a:p>
        </p:txBody>
      </p:sp>
      <p:sp>
        <p:nvSpPr>
          <p:cNvPr id="8" name="Shape 6"/>
          <p:cNvSpPr/>
          <p:nvPr/>
        </p:nvSpPr>
        <p:spPr>
          <a:xfrm>
            <a:off x="548640" y="3474720"/>
            <a:ext cx="11064240" cy="1371600"/>
          </a:xfrm>
          <a:prstGeom prst="roundRect">
            <a:avLst>
              <a:gd name="adj" fmla="val 6667"/>
            </a:avLst>
          </a:prstGeom>
          <a:solidFill>
            <a:srgbClr val="2B3468"/>
          </a:solidFill>
          <a:ln/>
        </p:spPr>
        <p:txBody>
          <a:bodyPr/>
          <a:lstStyle/>
          <a:p>
            <a:endParaRPr lang="es-PE"/>
          </a:p>
        </p:txBody>
      </p:sp>
      <p:sp>
        <p:nvSpPr>
          <p:cNvPr id="9" name="Shape 7"/>
          <p:cNvSpPr/>
          <p:nvPr/>
        </p:nvSpPr>
        <p:spPr>
          <a:xfrm>
            <a:off x="822960" y="3886200"/>
            <a:ext cx="548640" cy="548640"/>
          </a:xfrm>
          <a:prstGeom prst="ellipse">
            <a:avLst/>
          </a:prstGeom>
          <a:solidFill>
            <a:srgbClr val="F2A65A"/>
          </a:solidFill>
          <a:ln/>
        </p:spPr>
        <p:txBody>
          <a:bodyPr/>
          <a:lstStyle/>
          <a:p>
            <a:endParaRPr lang="es-PE"/>
          </a:p>
        </p:txBody>
      </p:sp>
      <p:sp>
        <p:nvSpPr>
          <p:cNvPr id="10" name="Text 8"/>
          <p:cNvSpPr/>
          <p:nvPr/>
        </p:nvSpPr>
        <p:spPr>
          <a:xfrm>
            <a:off x="822960" y="3886200"/>
            <a:ext cx="548640" cy="548640"/>
          </a:xfrm>
          <a:prstGeom prst="rect">
            <a:avLst/>
          </a:prstGeom>
          <a:noFill/>
          <a:ln/>
        </p:spPr>
        <p:txBody>
          <a:bodyPr wrap="square" rtlCol="0" anchor="ctr"/>
          <a:lstStyle/>
          <a:p>
            <a:pPr marL="0" indent="0" algn="ctr">
              <a:buNone/>
            </a:pPr>
            <a:r>
              <a:rPr lang="en-US" sz="2200" b="1" dirty="0">
                <a:solidFill>
                  <a:srgbClr val="21295C"/>
                </a:solidFill>
                <a:latin typeface="Calibri" pitchFamily="34" charset="0"/>
                <a:ea typeface="Calibri" pitchFamily="34" charset="-122"/>
                <a:cs typeface="Calibri" pitchFamily="34" charset="-120"/>
              </a:rPr>
              <a:t>2</a:t>
            </a:r>
            <a:endParaRPr lang="en-US" sz="2200" dirty="0"/>
          </a:p>
        </p:txBody>
      </p:sp>
      <p:sp>
        <p:nvSpPr>
          <p:cNvPr id="11" name="Text 9"/>
          <p:cNvSpPr/>
          <p:nvPr/>
        </p:nvSpPr>
        <p:spPr>
          <a:xfrm>
            <a:off x="1645920" y="3657600"/>
            <a:ext cx="9692640" cy="1005840"/>
          </a:xfrm>
          <a:prstGeom prst="rect">
            <a:avLst/>
          </a:prstGeom>
          <a:noFill/>
          <a:ln/>
        </p:spPr>
        <p:txBody>
          <a:bodyPr wrap="square" rtlCol="0" anchor="ctr"/>
          <a:lstStyle/>
          <a:p>
            <a:pPr marL="0" indent="0">
              <a:buNone/>
            </a:pPr>
            <a:r>
              <a:rPr lang="en-US" sz="1500" dirty="0">
                <a:solidFill>
                  <a:srgbClr val="F2F2F2"/>
                </a:solidFill>
                <a:latin typeface="Calibri" pitchFamily="34" charset="0"/>
                <a:ea typeface="Calibri" pitchFamily="34" charset="-122"/>
                <a:cs typeface="Calibri" pitchFamily="34" charset="-120"/>
              </a:rPr>
              <a:t>Usamos IA para construir más rápido y más barato que una agencia tradicional, sin sacrificar que la app resuelva el problema real.</a:t>
            </a:r>
            <a:endParaRPr lang="en-US" sz="1500" dirty="0"/>
          </a:p>
        </p:txBody>
      </p:sp>
      <p:sp>
        <p:nvSpPr>
          <p:cNvPr id="12" name="Shape 10"/>
          <p:cNvSpPr/>
          <p:nvPr/>
        </p:nvSpPr>
        <p:spPr>
          <a:xfrm>
            <a:off x="548640" y="5029200"/>
            <a:ext cx="11064240" cy="1371600"/>
          </a:xfrm>
          <a:prstGeom prst="roundRect">
            <a:avLst>
              <a:gd name="adj" fmla="val 6667"/>
            </a:avLst>
          </a:prstGeom>
          <a:solidFill>
            <a:srgbClr val="2B3468"/>
          </a:solidFill>
          <a:ln/>
        </p:spPr>
        <p:txBody>
          <a:bodyPr/>
          <a:lstStyle/>
          <a:p>
            <a:endParaRPr lang="es-PE"/>
          </a:p>
        </p:txBody>
      </p:sp>
      <p:sp>
        <p:nvSpPr>
          <p:cNvPr id="13" name="Shape 11"/>
          <p:cNvSpPr/>
          <p:nvPr/>
        </p:nvSpPr>
        <p:spPr>
          <a:xfrm>
            <a:off x="822960" y="5440680"/>
            <a:ext cx="548640" cy="548640"/>
          </a:xfrm>
          <a:prstGeom prst="ellipse">
            <a:avLst/>
          </a:prstGeom>
          <a:solidFill>
            <a:srgbClr val="F2A65A"/>
          </a:solidFill>
          <a:ln/>
        </p:spPr>
        <p:txBody>
          <a:bodyPr/>
          <a:lstStyle/>
          <a:p>
            <a:endParaRPr lang="es-PE"/>
          </a:p>
        </p:txBody>
      </p:sp>
      <p:sp>
        <p:nvSpPr>
          <p:cNvPr id="14" name="Text 12"/>
          <p:cNvSpPr/>
          <p:nvPr/>
        </p:nvSpPr>
        <p:spPr>
          <a:xfrm>
            <a:off x="822960" y="5440680"/>
            <a:ext cx="548640" cy="548640"/>
          </a:xfrm>
          <a:prstGeom prst="rect">
            <a:avLst/>
          </a:prstGeom>
          <a:noFill/>
          <a:ln/>
        </p:spPr>
        <p:txBody>
          <a:bodyPr wrap="square" rtlCol="0" anchor="ctr"/>
          <a:lstStyle/>
          <a:p>
            <a:pPr marL="0" indent="0" algn="ctr">
              <a:buNone/>
            </a:pPr>
            <a:r>
              <a:rPr lang="en-US" sz="2200" b="1" dirty="0">
                <a:solidFill>
                  <a:srgbClr val="21295C"/>
                </a:solidFill>
                <a:latin typeface="Calibri" pitchFamily="34" charset="0"/>
                <a:ea typeface="Calibri" pitchFamily="34" charset="-122"/>
                <a:cs typeface="Calibri" pitchFamily="34" charset="-120"/>
              </a:rPr>
              <a:t>3</a:t>
            </a:r>
            <a:endParaRPr lang="en-US" sz="2200" dirty="0"/>
          </a:p>
        </p:txBody>
      </p:sp>
      <p:sp>
        <p:nvSpPr>
          <p:cNvPr id="15" name="Text 13"/>
          <p:cNvSpPr/>
          <p:nvPr/>
        </p:nvSpPr>
        <p:spPr>
          <a:xfrm>
            <a:off x="1645920" y="5212080"/>
            <a:ext cx="9692640" cy="1005840"/>
          </a:xfrm>
          <a:prstGeom prst="rect">
            <a:avLst/>
          </a:prstGeom>
          <a:noFill/>
          <a:ln/>
        </p:spPr>
        <p:txBody>
          <a:bodyPr wrap="square" rtlCol="0" anchor="ctr"/>
          <a:lstStyle/>
          <a:p>
            <a:pPr marL="0" indent="0">
              <a:buNone/>
            </a:pPr>
            <a:r>
              <a:rPr lang="en-US" sz="1500" dirty="0">
                <a:solidFill>
                  <a:srgbClr val="F2F2F2"/>
                </a:solidFill>
                <a:latin typeface="Calibri" pitchFamily="34" charset="0"/>
                <a:ea typeface="Calibri" pitchFamily="34" charset="-122"/>
                <a:cs typeface="Calibri" pitchFamily="34" charset="-120"/>
              </a:rPr>
              <a:t>Ya construimos en 12 rubros distintos: no es una plantilla genérica disfrazada de “a medida”.</a:t>
            </a:r>
            <a:endParaRPr lang="en-US" sz="1500" dirty="0"/>
          </a:p>
        </p:txBody>
      </p:sp>
      <p:sp>
        <p:nvSpPr>
          <p:cNvPr id="16" name="Text 14"/>
          <p:cNvSpPr/>
          <p:nvPr/>
        </p:nvSpPr>
        <p:spPr>
          <a:xfrm>
            <a:off x="11548872" y="6400800"/>
            <a:ext cx="457200" cy="320040"/>
          </a:xfrm>
          <a:prstGeom prst="rect">
            <a:avLst/>
          </a:prstGeom>
          <a:noFill/>
          <a:ln/>
        </p:spPr>
        <p:txBody>
          <a:bodyPr wrap="square" rtlCol="0" anchor="ctr"/>
          <a:lstStyle/>
          <a:p>
            <a:pPr marL="0" indent="0" algn="r">
              <a:buNone/>
            </a:pPr>
            <a:r>
              <a:rPr lang="en-US" sz="1100" dirty="0">
                <a:solidFill>
                  <a:srgbClr val="9AA5B1"/>
                </a:solidFill>
                <a:latin typeface="Calibri" pitchFamily="34" charset="0"/>
                <a:ea typeface="Calibri" pitchFamily="34" charset="-122"/>
                <a:cs typeface="Calibri"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ESCENA 6 — LAS PREGUNTAS DEL CLIENTE</a:t>
            </a:r>
            <a:endParaRPr lang="en-US" sz="1300" dirty="0"/>
          </a:p>
        </p:txBody>
      </p:sp>
      <p:sp>
        <p:nvSpPr>
          <p:cNvPr id="3" name="Text 1"/>
          <p:cNvSpPr/>
          <p:nvPr/>
        </p:nvSpPr>
        <p:spPr>
          <a:xfrm>
            <a:off x="914400" y="2377440"/>
            <a:ext cx="10058400" cy="640080"/>
          </a:xfrm>
          <a:prstGeom prst="rect">
            <a:avLst/>
          </a:prstGeom>
          <a:noFill/>
          <a:ln/>
        </p:spPr>
        <p:txBody>
          <a:bodyPr wrap="square" rtlCol="0" anchor="ctr"/>
          <a:lstStyle/>
          <a:p>
            <a:pPr marL="0" indent="0">
              <a:buNone/>
            </a:pPr>
            <a:r>
              <a:rPr lang="en-US" sz="2200" dirty="0">
                <a:solidFill>
                  <a:srgbClr val="5B6472"/>
                </a:solidFill>
                <a:latin typeface="Calibri" pitchFamily="34" charset="0"/>
                <a:ea typeface="Calibri" pitchFamily="34" charset="-122"/>
                <a:cs typeface="Calibri" pitchFamily="34" charset="-120"/>
              </a:rPr>
              <a:t>Ahora la parte más importante:</a:t>
            </a:r>
            <a:endParaRPr lang="en-US" sz="2200" dirty="0"/>
          </a:p>
        </p:txBody>
      </p:sp>
      <p:sp>
        <p:nvSpPr>
          <p:cNvPr id="4" name="Text 2"/>
          <p:cNvSpPr/>
          <p:nvPr/>
        </p:nvSpPr>
        <p:spPr>
          <a:xfrm>
            <a:off x="914400" y="2926080"/>
            <a:ext cx="10058400" cy="822960"/>
          </a:xfrm>
          <a:prstGeom prst="rect">
            <a:avLst/>
          </a:prstGeom>
          <a:noFill/>
          <a:ln/>
        </p:spPr>
        <p:txBody>
          <a:bodyPr wrap="square" rtlCol="0" anchor="ctr"/>
          <a:lstStyle/>
          <a:p>
            <a:pPr marL="0" indent="0">
              <a:buNone/>
            </a:pPr>
            <a:r>
              <a:rPr lang="en-US" sz="3000" b="1" dirty="0">
                <a:solidFill>
                  <a:srgbClr val="1A1A2E"/>
                </a:solidFill>
                <a:latin typeface="Cambria" pitchFamily="34" charset="0"/>
                <a:ea typeface="Cambria" pitchFamily="34" charset="-122"/>
                <a:cs typeface="Cambria" pitchFamily="34" charset="-120"/>
              </a:rPr>
              <a:t>qué te va a preguntar el cliente, y qué responder.</a:t>
            </a:r>
            <a:endParaRPr lang="en-US" sz="3000" dirty="0"/>
          </a:p>
        </p:txBody>
      </p:sp>
      <p:sp>
        <p:nvSpPr>
          <p:cNvPr id="5" name="Text 3"/>
          <p:cNvSpPr/>
          <p:nvPr/>
        </p:nvSpPr>
        <p:spPr>
          <a:xfrm>
            <a:off x="11548872" y="6400800"/>
            <a:ext cx="457200" cy="320040"/>
          </a:xfrm>
          <a:prstGeom prst="rect">
            <a:avLst/>
          </a:prstGeom>
          <a:noFill/>
          <a:ln/>
        </p:spPr>
        <p:txBody>
          <a:bodyPr wrap="square" rtlCol="0" anchor="ctr"/>
          <a:lstStyle/>
          <a:p>
            <a:pPr marL="0" indent="0" algn="r">
              <a:buNone/>
            </a:pPr>
            <a:r>
              <a:rPr lang="en-US" sz="1100" dirty="0">
                <a:solidFill>
                  <a:srgbClr val="AAB4BE"/>
                </a:solidFill>
                <a:latin typeface="Calibri" pitchFamily="34" charset="0"/>
                <a:ea typeface="Calibri" pitchFamily="34" charset="-122"/>
                <a:cs typeface="Calibri"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PREGUNTAS FRECUENTES</a:t>
            </a:r>
            <a:endParaRPr lang="en-US" sz="1300" dirty="0"/>
          </a:p>
        </p:txBody>
      </p:sp>
      <p:sp>
        <p:nvSpPr>
          <p:cNvPr id="3" name="Text 1"/>
          <p:cNvSpPr/>
          <p:nvPr/>
        </p:nvSpPr>
        <p:spPr>
          <a:xfrm>
            <a:off x="548640" y="1005840"/>
            <a:ext cx="11064240" cy="457200"/>
          </a:xfrm>
          <a:prstGeom prst="rect">
            <a:avLst/>
          </a:prstGeom>
          <a:noFill/>
          <a:ln/>
        </p:spPr>
        <p:txBody>
          <a:bodyPr wrap="square" rtlCol="0" anchor="ctr"/>
          <a:lstStyle/>
          <a:p>
            <a:pPr marL="0" indent="0">
              <a:buNone/>
            </a:pPr>
            <a:r>
              <a:rPr lang="en-US" sz="1800" b="1" dirty="0">
                <a:solidFill>
                  <a:srgbClr val="065A82"/>
                </a:solidFill>
                <a:latin typeface="Calibri" pitchFamily="34" charset="0"/>
                <a:ea typeface="Calibri" pitchFamily="34" charset="-122"/>
                <a:cs typeface="Calibri" pitchFamily="34" charset="-120"/>
              </a:rPr>
              <a:t>¿Cuánto cuesta una app a medida?</a:t>
            </a:r>
            <a:endParaRPr lang="en-US" sz="1800" dirty="0"/>
          </a:p>
        </p:txBody>
      </p:sp>
      <p:sp>
        <p:nvSpPr>
          <p:cNvPr id="4" name="Text 2"/>
          <p:cNvSpPr/>
          <p:nvPr/>
        </p:nvSpPr>
        <p:spPr>
          <a:xfrm>
            <a:off x="548640" y="1508760"/>
            <a:ext cx="11064240" cy="137160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Depende del alcance. Al usar IA en el desarrollo se construye más rápido y a un costo muy por debajo de una agencia tradicional. Se da un número concreto después de una llamada breve de diagnóstico, sin compromiso. No ofrecer cifras cerradas sin haber hecho el diagnóstico.</a:t>
            </a:r>
            <a:endParaRPr lang="en-US" sz="1400" dirty="0"/>
          </a:p>
        </p:txBody>
      </p:sp>
      <p:sp>
        <p:nvSpPr>
          <p:cNvPr id="5" name="Text 3"/>
          <p:cNvSpPr/>
          <p:nvPr/>
        </p:nvSpPr>
        <p:spPr>
          <a:xfrm>
            <a:off x="548640" y="3108960"/>
            <a:ext cx="11064240" cy="457200"/>
          </a:xfrm>
          <a:prstGeom prst="rect">
            <a:avLst/>
          </a:prstGeom>
          <a:noFill/>
          <a:ln/>
        </p:spPr>
        <p:txBody>
          <a:bodyPr wrap="square" rtlCol="0" anchor="ctr"/>
          <a:lstStyle/>
          <a:p>
            <a:pPr marL="0" indent="0">
              <a:buNone/>
            </a:pPr>
            <a:r>
              <a:rPr lang="en-US" sz="1800" b="1" dirty="0">
                <a:solidFill>
                  <a:srgbClr val="065A82"/>
                </a:solidFill>
                <a:latin typeface="Calibri" pitchFamily="34" charset="0"/>
                <a:ea typeface="Calibri" pitchFamily="34" charset="-122"/>
                <a:cs typeface="Calibri" pitchFamily="34" charset="-120"/>
              </a:rPr>
              <a:t>¿Cuánto se demora un proyecto?</a:t>
            </a:r>
            <a:endParaRPr lang="en-US" sz="1800" dirty="0"/>
          </a:p>
        </p:txBody>
      </p:sp>
      <p:sp>
        <p:nvSpPr>
          <p:cNvPr id="6" name="Text 4"/>
          <p:cNvSpPr/>
          <p:nvPr/>
        </p:nvSpPr>
        <p:spPr>
          <a:xfrm>
            <a:off x="548640" y="3611880"/>
            <a:ext cx="11064240" cy="137160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Una primera versión funcional suele estar lista en días, no meses. El tiempo total depende del ajuste que necesite el caso específico.</a:t>
            </a:r>
            <a:endParaRPr lang="en-US" sz="1400" dirty="0"/>
          </a:p>
        </p:txBody>
      </p:sp>
      <p:sp>
        <p:nvSpPr>
          <p:cNvPr id="7" name="Text 5"/>
          <p:cNvSpPr/>
          <p:nvPr/>
        </p:nvSpPr>
        <p:spPr>
          <a:xfrm>
            <a:off x="11548872" y="6400800"/>
            <a:ext cx="457200" cy="320040"/>
          </a:xfrm>
          <a:prstGeom prst="rect">
            <a:avLst/>
          </a:prstGeom>
          <a:noFill/>
          <a:ln/>
        </p:spPr>
        <p:txBody>
          <a:bodyPr wrap="square" rtlCol="0" anchor="ctr"/>
          <a:lstStyle/>
          <a:p>
            <a:pPr marL="0" indent="0" algn="r">
              <a:buNone/>
            </a:pPr>
            <a:r>
              <a:rPr lang="en-US" sz="1100" dirty="0">
                <a:solidFill>
                  <a:srgbClr val="AAB4BE"/>
                </a:solidFill>
                <a:latin typeface="Calibri" pitchFamily="34" charset="0"/>
                <a:ea typeface="Calibri" pitchFamily="34" charset="-122"/>
                <a:cs typeface="Calibri"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PREGUNTAS FRECUENTES</a:t>
            </a:r>
            <a:endParaRPr lang="en-US" sz="1300" dirty="0"/>
          </a:p>
        </p:txBody>
      </p:sp>
      <p:sp>
        <p:nvSpPr>
          <p:cNvPr id="3" name="Text 1"/>
          <p:cNvSpPr/>
          <p:nvPr/>
        </p:nvSpPr>
        <p:spPr>
          <a:xfrm>
            <a:off x="548640" y="1005840"/>
            <a:ext cx="11064240" cy="457200"/>
          </a:xfrm>
          <a:prstGeom prst="rect">
            <a:avLst/>
          </a:prstGeom>
          <a:noFill/>
          <a:ln/>
        </p:spPr>
        <p:txBody>
          <a:bodyPr wrap="square" rtlCol="0" anchor="ctr"/>
          <a:lstStyle/>
          <a:p>
            <a:pPr marL="0" indent="0">
              <a:buNone/>
            </a:pPr>
            <a:r>
              <a:rPr lang="en-US" sz="1800" b="1" dirty="0">
                <a:solidFill>
                  <a:srgbClr val="065A82"/>
                </a:solidFill>
                <a:latin typeface="Calibri" pitchFamily="34" charset="0"/>
                <a:ea typeface="Calibri" pitchFamily="34" charset="-122"/>
                <a:cs typeface="Calibri" pitchFamily="34" charset="-120"/>
              </a:rPr>
              <a:t>¿Trabajan con mi rubro aunque no esté en el portafolio?</a:t>
            </a:r>
            <a:endParaRPr lang="en-US" sz="1800" dirty="0"/>
          </a:p>
        </p:txBody>
      </p:sp>
      <p:sp>
        <p:nvSpPr>
          <p:cNvPr id="4" name="Text 2"/>
          <p:cNvSpPr/>
          <p:nvPr/>
        </p:nvSpPr>
        <p:spPr>
          <a:xfrm>
            <a:off x="548640" y="1508760"/>
            <a:ext cx="11064240" cy="137160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Sí. El portafolio es una muestra, no el límite. Ya se construyó en 12 rubros distintos y se evalúa cualquier idea nueva sin costo.</a:t>
            </a:r>
            <a:endParaRPr lang="en-US" sz="1400" dirty="0"/>
          </a:p>
        </p:txBody>
      </p:sp>
      <p:sp>
        <p:nvSpPr>
          <p:cNvPr id="5" name="Text 3"/>
          <p:cNvSpPr/>
          <p:nvPr/>
        </p:nvSpPr>
        <p:spPr>
          <a:xfrm>
            <a:off x="548640" y="3108960"/>
            <a:ext cx="11064240" cy="457200"/>
          </a:xfrm>
          <a:prstGeom prst="rect">
            <a:avLst/>
          </a:prstGeom>
          <a:noFill/>
          <a:ln/>
        </p:spPr>
        <p:txBody>
          <a:bodyPr wrap="square" rtlCol="0" anchor="ctr"/>
          <a:lstStyle/>
          <a:p>
            <a:pPr marL="0" indent="0">
              <a:buNone/>
            </a:pPr>
            <a:r>
              <a:rPr lang="en-US" sz="1800" b="1" dirty="0">
                <a:solidFill>
                  <a:srgbClr val="065A82"/>
                </a:solidFill>
                <a:latin typeface="Calibri" pitchFamily="34" charset="0"/>
                <a:ea typeface="Calibri" pitchFamily="34" charset="-122"/>
                <a:cs typeface="Calibri" pitchFamily="34" charset="-120"/>
              </a:rPr>
              <a:t>¿Qué pasa después de que la app está lista?</a:t>
            </a:r>
            <a:endParaRPr lang="en-US" sz="1800" dirty="0"/>
          </a:p>
        </p:txBody>
      </p:sp>
      <p:sp>
        <p:nvSpPr>
          <p:cNvPr id="6" name="Text 4"/>
          <p:cNvSpPr/>
          <p:nvPr/>
        </p:nvSpPr>
        <p:spPr>
          <a:xfrm>
            <a:off x="548640" y="3611880"/>
            <a:ext cx="11064240" cy="137160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Se sigue disponible para ajustes y mejoras. No se entrega el código y desaparece — se acompaña mientras la app siga en uso.</a:t>
            </a:r>
            <a:endParaRPr lang="en-US" sz="1400" dirty="0"/>
          </a:p>
        </p:txBody>
      </p:sp>
      <p:sp>
        <p:nvSpPr>
          <p:cNvPr id="7" name="Text 5"/>
          <p:cNvSpPr/>
          <p:nvPr/>
        </p:nvSpPr>
        <p:spPr>
          <a:xfrm>
            <a:off x="11548872" y="6400800"/>
            <a:ext cx="457200" cy="320040"/>
          </a:xfrm>
          <a:prstGeom prst="rect">
            <a:avLst/>
          </a:prstGeom>
          <a:noFill/>
          <a:ln/>
        </p:spPr>
        <p:txBody>
          <a:bodyPr wrap="square" rtlCol="0" anchor="ctr"/>
          <a:lstStyle/>
          <a:p>
            <a:pPr marL="0" indent="0" algn="r">
              <a:buNone/>
            </a:pPr>
            <a:r>
              <a:rPr lang="en-US" sz="1100" dirty="0">
                <a:solidFill>
                  <a:srgbClr val="AAB4BE"/>
                </a:solidFill>
                <a:latin typeface="Calibri" pitchFamily="34" charset="0"/>
                <a:ea typeface="Calibri" pitchFamily="34" charset="-122"/>
                <a:cs typeface="Calibri"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PREGUNTAS FRECUENTES</a:t>
            </a:r>
            <a:endParaRPr lang="en-US" sz="1300" dirty="0"/>
          </a:p>
        </p:txBody>
      </p:sp>
      <p:sp>
        <p:nvSpPr>
          <p:cNvPr id="3" name="Text 1"/>
          <p:cNvSpPr/>
          <p:nvPr/>
        </p:nvSpPr>
        <p:spPr>
          <a:xfrm>
            <a:off x="548640" y="1005840"/>
            <a:ext cx="11064240" cy="457200"/>
          </a:xfrm>
          <a:prstGeom prst="rect">
            <a:avLst/>
          </a:prstGeom>
          <a:noFill/>
          <a:ln/>
        </p:spPr>
        <p:txBody>
          <a:bodyPr wrap="square" rtlCol="0" anchor="ctr"/>
          <a:lstStyle/>
          <a:p>
            <a:pPr marL="0" indent="0">
              <a:buNone/>
            </a:pPr>
            <a:r>
              <a:rPr lang="en-US" sz="1800" b="1" dirty="0">
                <a:solidFill>
                  <a:srgbClr val="065A82"/>
                </a:solidFill>
                <a:latin typeface="Calibri" pitchFamily="34" charset="0"/>
                <a:ea typeface="Calibri" pitchFamily="34" charset="-122"/>
                <a:cs typeface="Calibri" pitchFamily="34" charset="-120"/>
              </a:rPr>
              <a:t>No tengo conocimientos técnicos, ¿igual puedo pedir una app?</a:t>
            </a:r>
            <a:endParaRPr lang="en-US" sz="1800" dirty="0"/>
          </a:p>
        </p:txBody>
      </p:sp>
      <p:sp>
        <p:nvSpPr>
          <p:cNvPr id="4" name="Text 2"/>
          <p:cNvSpPr/>
          <p:nvPr/>
        </p:nvSpPr>
        <p:spPr>
          <a:xfrm>
            <a:off x="548640" y="1508760"/>
            <a:ext cx="11064240" cy="137160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Por supuesto. La mayoría de los clientes no son técnicos. El cliente describe cómo funciona su negocio hoy y el equipo se encarga del resto.</a:t>
            </a:r>
            <a:endParaRPr lang="en-US" sz="1400" dirty="0"/>
          </a:p>
        </p:txBody>
      </p:sp>
      <p:sp>
        <p:nvSpPr>
          <p:cNvPr id="5" name="Text 3"/>
          <p:cNvSpPr/>
          <p:nvPr/>
        </p:nvSpPr>
        <p:spPr>
          <a:xfrm>
            <a:off x="548640" y="3108960"/>
            <a:ext cx="11064240" cy="457200"/>
          </a:xfrm>
          <a:prstGeom prst="rect">
            <a:avLst/>
          </a:prstGeom>
          <a:noFill/>
          <a:ln/>
        </p:spPr>
        <p:txBody>
          <a:bodyPr wrap="square" rtlCol="0" anchor="ctr"/>
          <a:lstStyle/>
          <a:p>
            <a:pPr marL="0" indent="0">
              <a:buNone/>
            </a:pPr>
            <a:r>
              <a:rPr lang="en-US" sz="1800" b="1" dirty="0">
                <a:solidFill>
                  <a:srgbClr val="065A82"/>
                </a:solidFill>
                <a:latin typeface="Calibri" pitchFamily="34" charset="0"/>
                <a:ea typeface="Calibri" pitchFamily="34" charset="-122"/>
                <a:cs typeface="Calibri" pitchFamily="34" charset="-120"/>
              </a:rPr>
              <a:t>¿Qué necesito tener listo antes de empezar?</a:t>
            </a:r>
            <a:endParaRPr lang="en-US" sz="1800" dirty="0"/>
          </a:p>
        </p:txBody>
      </p:sp>
      <p:sp>
        <p:nvSpPr>
          <p:cNvPr id="6" name="Text 4"/>
          <p:cNvSpPr/>
          <p:nvPr/>
        </p:nvSpPr>
        <p:spPr>
          <a:xfrm>
            <a:off x="548640" y="3611880"/>
            <a:ext cx="11064240" cy="137160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Nada técnico. Solo estar listo para explicar cómo funciona el negocio hoy — eso es exactamente lo que cubre la etapa de Diagnóstico.</a:t>
            </a:r>
            <a:endParaRPr lang="en-US" sz="1400" dirty="0"/>
          </a:p>
        </p:txBody>
      </p:sp>
      <p:sp>
        <p:nvSpPr>
          <p:cNvPr id="7" name="Text 5"/>
          <p:cNvSpPr/>
          <p:nvPr/>
        </p:nvSpPr>
        <p:spPr>
          <a:xfrm>
            <a:off x="11548872" y="6400800"/>
            <a:ext cx="457200" cy="320040"/>
          </a:xfrm>
          <a:prstGeom prst="rect">
            <a:avLst/>
          </a:prstGeom>
          <a:noFill/>
          <a:ln/>
        </p:spPr>
        <p:txBody>
          <a:bodyPr wrap="square" rtlCol="0" anchor="ctr"/>
          <a:lstStyle/>
          <a:p>
            <a:pPr marL="0" indent="0" algn="r">
              <a:buNone/>
            </a:pPr>
            <a:r>
              <a:rPr lang="en-US" sz="1100" dirty="0">
                <a:solidFill>
                  <a:srgbClr val="AAB4BE"/>
                </a:solidFill>
                <a:latin typeface="Calibri" pitchFamily="34" charset="0"/>
                <a:ea typeface="Calibri" pitchFamily="34" charset="-122"/>
                <a:cs typeface="Calibri"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PREGUNTAS FRECUENTES</a:t>
            </a:r>
            <a:endParaRPr lang="en-US" sz="1300" dirty="0"/>
          </a:p>
        </p:txBody>
      </p:sp>
      <p:sp>
        <p:nvSpPr>
          <p:cNvPr id="3" name="Text 1"/>
          <p:cNvSpPr/>
          <p:nvPr/>
        </p:nvSpPr>
        <p:spPr>
          <a:xfrm>
            <a:off x="548640" y="1005840"/>
            <a:ext cx="11064240" cy="457200"/>
          </a:xfrm>
          <a:prstGeom prst="rect">
            <a:avLst/>
          </a:prstGeom>
          <a:noFill/>
          <a:ln/>
        </p:spPr>
        <p:txBody>
          <a:bodyPr wrap="square" rtlCol="0" anchor="ctr"/>
          <a:lstStyle/>
          <a:p>
            <a:pPr marL="0" indent="0">
              <a:buNone/>
            </a:pPr>
            <a:r>
              <a:rPr lang="en-US" sz="1800" b="1" dirty="0">
                <a:solidFill>
                  <a:srgbClr val="065A82"/>
                </a:solidFill>
                <a:latin typeface="Calibri" pitchFamily="34" charset="0"/>
                <a:ea typeface="Calibri" pitchFamily="34" charset="-122"/>
                <a:cs typeface="Calibri" pitchFamily="34" charset="-120"/>
              </a:rPr>
              <a:t>¿Qué pasa si el prototipo no me convence?</a:t>
            </a:r>
            <a:endParaRPr lang="en-US" sz="1800" dirty="0"/>
          </a:p>
        </p:txBody>
      </p:sp>
      <p:sp>
        <p:nvSpPr>
          <p:cNvPr id="4" name="Text 2"/>
          <p:cNvSpPr/>
          <p:nvPr/>
        </p:nvSpPr>
        <p:spPr>
          <a:xfrm>
            <a:off x="548640" y="1508760"/>
            <a:ext cx="11064240" cy="137160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Para eso existe la etapa de Prototipo: es una primera versión para probar y ajustar, no la entrega final. El desarrollo se afina con el cliente hasta resolver exactamente lo que necesita.</a:t>
            </a:r>
            <a:endParaRPr lang="en-US" sz="1400" dirty="0"/>
          </a:p>
        </p:txBody>
      </p:sp>
      <p:sp>
        <p:nvSpPr>
          <p:cNvPr id="5" name="Text 3"/>
          <p:cNvSpPr/>
          <p:nvPr/>
        </p:nvSpPr>
        <p:spPr>
          <a:xfrm>
            <a:off x="548640" y="3108960"/>
            <a:ext cx="11064240" cy="457200"/>
          </a:xfrm>
          <a:prstGeom prst="rect">
            <a:avLst/>
          </a:prstGeom>
          <a:noFill/>
          <a:ln/>
        </p:spPr>
        <p:txBody>
          <a:bodyPr wrap="square" rtlCol="0" anchor="ctr"/>
          <a:lstStyle/>
          <a:p>
            <a:pPr marL="0" indent="0">
              <a:buNone/>
            </a:pPr>
            <a:r>
              <a:rPr lang="en-US" sz="1800" b="1" dirty="0">
                <a:solidFill>
                  <a:srgbClr val="065A82"/>
                </a:solidFill>
                <a:latin typeface="Calibri" pitchFamily="34" charset="0"/>
                <a:ea typeface="Calibri" pitchFamily="34" charset="-122"/>
                <a:cs typeface="Calibri" pitchFamily="34" charset="-120"/>
              </a:rPr>
              <a:t>¿Y si mi negocio crece y necesito más funciones después?</a:t>
            </a:r>
            <a:endParaRPr lang="en-US" sz="1800" dirty="0"/>
          </a:p>
        </p:txBody>
      </p:sp>
      <p:sp>
        <p:nvSpPr>
          <p:cNvPr id="6" name="Text 4"/>
          <p:cNvSpPr/>
          <p:nvPr/>
        </p:nvSpPr>
        <p:spPr>
          <a:xfrm>
            <a:off x="548640" y="3611880"/>
            <a:ext cx="11064240" cy="137160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Como no se entrega el código y se desaparece, el acompañamiento continúa — sumar funciones nuevas más adelante es parte natural de seguir trabajando juntos.</a:t>
            </a:r>
            <a:endParaRPr lang="en-US" sz="1400" dirty="0"/>
          </a:p>
        </p:txBody>
      </p:sp>
      <p:sp>
        <p:nvSpPr>
          <p:cNvPr id="7" name="Text 5"/>
          <p:cNvSpPr/>
          <p:nvPr/>
        </p:nvSpPr>
        <p:spPr>
          <a:xfrm>
            <a:off x="11548872" y="6400800"/>
            <a:ext cx="457200" cy="320040"/>
          </a:xfrm>
          <a:prstGeom prst="rect">
            <a:avLst/>
          </a:prstGeom>
          <a:noFill/>
          <a:ln/>
        </p:spPr>
        <p:txBody>
          <a:bodyPr wrap="square" rtlCol="0" anchor="ctr"/>
          <a:lstStyle/>
          <a:p>
            <a:pPr marL="0" indent="0" algn="r">
              <a:buNone/>
            </a:pPr>
            <a:r>
              <a:rPr lang="en-US" sz="1100" dirty="0">
                <a:solidFill>
                  <a:srgbClr val="AAB4BE"/>
                </a:solidFill>
                <a:latin typeface="Calibri" pitchFamily="34" charset="0"/>
                <a:ea typeface="Calibri" pitchFamily="34" charset="-122"/>
                <a:cs typeface="Calibri"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PREGUNTAS FRECUENTES</a:t>
            </a:r>
            <a:endParaRPr lang="en-US" sz="1300" dirty="0"/>
          </a:p>
        </p:txBody>
      </p:sp>
      <p:sp>
        <p:nvSpPr>
          <p:cNvPr id="3" name="Text 1"/>
          <p:cNvSpPr/>
          <p:nvPr/>
        </p:nvSpPr>
        <p:spPr>
          <a:xfrm>
            <a:off x="548640" y="1005840"/>
            <a:ext cx="11064240" cy="457200"/>
          </a:xfrm>
          <a:prstGeom prst="rect">
            <a:avLst/>
          </a:prstGeom>
          <a:noFill/>
          <a:ln/>
        </p:spPr>
        <p:txBody>
          <a:bodyPr wrap="square" rtlCol="0" anchor="ctr"/>
          <a:lstStyle/>
          <a:p>
            <a:pPr marL="0" indent="0">
              <a:buNone/>
            </a:pPr>
            <a:r>
              <a:rPr lang="en-US" sz="1800" b="1" dirty="0">
                <a:solidFill>
                  <a:srgbClr val="065A82"/>
                </a:solidFill>
                <a:latin typeface="Calibri" pitchFamily="34" charset="0"/>
                <a:ea typeface="Calibri" pitchFamily="34" charset="-122"/>
                <a:cs typeface="Calibri" pitchFamily="34" charset="-120"/>
              </a:rPr>
              <a:t>¿En qué se diferencia esto de usar Wix, Shopify o una plantilla?</a:t>
            </a:r>
            <a:endParaRPr lang="en-US" sz="1800" dirty="0"/>
          </a:p>
        </p:txBody>
      </p:sp>
      <p:sp>
        <p:nvSpPr>
          <p:cNvPr id="4" name="Text 2"/>
          <p:cNvSpPr/>
          <p:nvPr/>
        </p:nvSpPr>
        <p:spPr>
          <a:xfrm>
            <a:off x="548640" y="1508760"/>
            <a:ext cx="11064240" cy="137160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Una plantilla se adapta al negocio; una app a medida se construye alrededor de cómo trabaja el negocio realmente — sin forzarlo a encajar en una estructura genérica pensada para cualquiera.</a:t>
            </a:r>
            <a:endParaRPr lang="en-US" sz="1400" dirty="0"/>
          </a:p>
        </p:txBody>
      </p:sp>
      <p:sp>
        <p:nvSpPr>
          <p:cNvPr id="5" name="Text 3"/>
          <p:cNvSpPr/>
          <p:nvPr/>
        </p:nvSpPr>
        <p:spPr>
          <a:xfrm>
            <a:off x="548640" y="3108960"/>
            <a:ext cx="11064240" cy="457200"/>
          </a:xfrm>
          <a:prstGeom prst="rect">
            <a:avLst/>
          </a:prstGeom>
          <a:noFill/>
          <a:ln/>
        </p:spPr>
        <p:txBody>
          <a:bodyPr wrap="square" rtlCol="0" anchor="ctr"/>
          <a:lstStyle/>
          <a:p>
            <a:pPr marL="0" indent="0">
              <a:buNone/>
            </a:pPr>
            <a:r>
              <a:rPr lang="en-US" sz="1800" b="1" dirty="0">
                <a:solidFill>
                  <a:srgbClr val="065A82"/>
                </a:solidFill>
                <a:latin typeface="Calibri" pitchFamily="34" charset="0"/>
                <a:ea typeface="Calibri" pitchFamily="34" charset="-122"/>
                <a:cs typeface="Calibri" pitchFamily="34" charset="-120"/>
              </a:rPr>
              <a:t>¿Cómo se paga el proyecto (adelanto, cuotas, contrato)?</a:t>
            </a:r>
            <a:endParaRPr lang="en-US" sz="1800" dirty="0"/>
          </a:p>
        </p:txBody>
      </p:sp>
      <p:sp>
        <p:nvSpPr>
          <p:cNvPr id="6" name="Text 4"/>
          <p:cNvSpPr/>
          <p:nvPr/>
        </p:nvSpPr>
        <p:spPr>
          <a:xfrm>
            <a:off x="548640" y="3611880"/>
            <a:ext cx="11064240" cy="137160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Este punto no está definido en la información disponible para este manual. No prometer una condición de pago específica al cliente — confirmar directamente con Fernando antes de cerrar cualquier acuerdo.</a:t>
            </a:r>
            <a:endParaRPr lang="en-US" sz="1400" dirty="0"/>
          </a:p>
        </p:txBody>
      </p:sp>
      <p:sp>
        <p:nvSpPr>
          <p:cNvPr id="7" name="Text 5"/>
          <p:cNvSpPr/>
          <p:nvPr/>
        </p:nvSpPr>
        <p:spPr>
          <a:xfrm>
            <a:off x="11548872" y="6400800"/>
            <a:ext cx="457200" cy="320040"/>
          </a:xfrm>
          <a:prstGeom prst="rect">
            <a:avLst/>
          </a:prstGeom>
          <a:noFill/>
          <a:ln/>
        </p:spPr>
        <p:txBody>
          <a:bodyPr wrap="square" rtlCol="0" anchor="ctr"/>
          <a:lstStyle/>
          <a:p>
            <a:pPr marL="0" indent="0" algn="r">
              <a:buNone/>
            </a:pPr>
            <a:r>
              <a:rPr lang="en-US" sz="1100" dirty="0">
                <a:solidFill>
                  <a:srgbClr val="AAB4BE"/>
                </a:solidFill>
                <a:latin typeface="Calibri" pitchFamily="34" charset="0"/>
                <a:ea typeface="Calibri" pitchFamily="34" charset="-122"/>
                <a:cs typeface="Calibri"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1371600" y="-1371600"/>
            <a:ext cx="4572000" cy="4572000"/>
          </a:xfrm>
          <a:prstGeom prst="ellipse">
            <a:avLst/>
          </a:prstGeom>
          <a:solidFill>
            <a:srgbClr val="065A82">
              <a:alpha val="55000"/>
            </a:srgbClr>
          </a:solidFill>
          <a:ln/>
        </p:spPr>
        <p:txBody>
          <a:bodyPr/>
          <a:lstStyle/>
          <a:p>
            <a:endParaRPr lang="es-PE"/>
          </a:p>
        </p:txBody>
      </p:sp>
      <p:sp>
        <p:nvSpPr>
          <p:cNvPr id="3" name="Text 1"/>
          <p:cNvSpPr/>
          <p:nvPr/>
        </p:nvSpPr>
        <p:spPr>
          <a:xfrm>
            <a:off x="548640" y="411480"/>
            <a:ext cx="7315200" cy="365760"/>
          </a:xfrm>
          <a:prstGeom prst="rect">
            <a:avLst/>
          </a:prstGeom>
          <a:noFill/>
          <a:ln/>
        </p:spPr>
        <p:txBody>
          <a:bodyPr wrap="square" rtlCol="0" anchor="ctr"/>
          <a:lstStyle/>
          <a:p>
            <a:pPr marL="0" indent="0">
              <a:buNone/>
            </a:pPr>
            <a:r>
              <a:rPr lang="en-US" sz="1300" b="1" kern="0" spc="200" dirty="0">
                <a:solidFill>
                  <a:srgbClr val="F2A65A"/>
                </a:solidFill>
                <a:latin typeface="Calibri" pitchFamily="34" charset="0"/>
                <a:ea typeface="Calibri" pitchFamily="34" charset="-122"/>
                <a:cs typeface="Calibri" pitchFamily="34" charset="-120"/>
              </a:rPr>
              <a:t>ESCENA FINAL — EL CIERRE</a:t>
            </a:r>
            <a:endParaRPr lang="en-US" sz="1300" dirty="0"/>
          </a:p>
        </p:txBody>
      </p:sp>
      <p:sp>
        <p:nvSpPr>
          <p:cNvPr id="4" name="Text 2"/>
          <p:cNvSpPr/>
          <p:nvPr/>
        </p:nvSpPr>
        <p:spPr>
          <a:xfrm>
            <a:off x="731520" y="1371600"/>
            <a:ext cx="10515600" cy="82296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El objetivo de la primera conversación NO es cerrar la venta.</a:t>
            </a:r>
            <a:endParaRPr lang="en-US" sz="2400" dirty="0"/>
          </a:p>
        </p:txBody>
      </p:sp>
      <p:sp>
        <p:nvSpPr>
          <p:cNvPr id="5" name="Text 3"/>
          <p:cNvSpPr/>
          <p:nvPr/>
        </p:nvSpPr>
        <p:spPr>
          <a:xfrm>
            <a:off x="731520" y="2148840"/>
            <a:ext cx="10058400" cy="548640"/>
          </a:xfrm>
          <a:prstGeom prst="rect">
            <a:avLst/>
          </a:prstGeom>
          <a:noFill/>
          <a:ln/>
        </p:spPr>
        <p:txBody>
          <a:bodyPr wrap="square" rtlCol="0" anchor="ctr"/>
          <a:lstStyle/>
          <a:p>
            <a:pPr marL="0" indent="0">
              <a:buNone/>
            </a:pPr>
            <a:r>
              <a:rPr lang="en-US" sz="1600" dirty="0">
                <a:solidFill>
                  <a:srgbClr val="C7CEDB"/>
                </a:solidFill>
                <a:latin typeface="Calibri" pitchFamily="34" charset="0"/>
                <a:ea typeface="Calibri" pitchFamily="34" charset="-122"/>
                <a:cs typeface="Calibri" pitchFamily="34" charset="-120"/>
              </a:rPr>
              <a:t>Es agendar el diagnóstico. Dirige siempre hacia uno de estos canales:</a:t>
            </a:r>
            <a:endParaRPr lang="en-US" sz="1600" dirty="0"/>
          </a:p>
        </p:txBody>
      </p:sp>
      <p:sp>
        <p:nvSpPr>
          <p:cNvPr id="6" name="Shape 4"/>
          <p:cNvSpPr/>
          <p:nvPr/>
        </p:nvSpPr>
        <p:spPr>
          <a:xfrm>
            <a:off x="731520" y="3017520"/>
            <a:ext cx="3566160" cy="1371600"/>
          </a:xfrm>
          <a:prstGeom prst="roundRect">
            <a:avLst>
              <a:gd name="adj" fmla="val 8000"/>
            </a:avLst>
          </a:prstGeom>
          <a:solidFill>
            <a:srgbClr val="2B3468"/>
          </a:solidFill>
          <a:ln/>
        </p:spPr>
        <p:txBody>
          <a:bodyPr/>
          <a:lstStyle/>
          <a:p>
            <a:endParaRPr lang="es-PE"/>
          </a:p>
        </p:txBody>
      </p:sp>
      <p:sp>
        <p:nvSpPr>
          <p:cNvPr id="7" name="Text 5"/>
          <p:cNvSpPr/>
          <p:nvPr/>
        </p:nvSpPr>
        <p:spPr>
          <a:xfrm>
            <a:off x="731520" y="3200400"/>
            <a:ext cx="3566160" cy="365760"/>
          </a:xfrm>
          <a:prstGeom prst="rect">
            <a:avLst/>
          </a:prstGeom>
          <a:noFill/>
          <a:ln/>
        </p:spPr>
        <p:txBody>
          <a:bodyPr wrap="square" rtlCol="0" anchor="ctr"/>
          <a:lstStyle/>
          <a:p>
            <a:pPr marL="0" indent="0" algn="ctr">
              <a:buNone/>
            </a:pPr>
            <a:r>
              <a:rPr lang="en-US" sz="1400" dirty="0">
                <a:solidFill>
                  <a:srgbClr val="9AA5B1"/>
                </a:solidFill>
                <a:latin typeface="Calibri" pitchFamily="34" charset="0"/>
                <a:ea typeface="Calibri" pitchFamily="34" charset="-122"/>
                <a:cs typeface="Calibri" pitchFamily="34" charset="-120"/>
              </a:rPr>
              <a:t>WhatsApp</a:t>
            </a:r>
            <a:endParaRPr lang="en-US" sz="1400" dirty="0"/>
          </a:p>
        </p:txBody>
      </p:sp>
      <p:sp>
        <p:nvSpPr>
          <p:cNvPr id="8" name="Text 6"/>
          <p:cNvSpPr/>
          <p:nvPr/>
        </p:nvSpPr>
        <p:spPr>
          <a:xfrm>
            <a:off x="731520" y="3566160"/>
            <a:ext cx="3566160" cy="548640"/>
          </a:xfrm>
          <a:prstGeom prst="rect">
            <a:avLst/>
          </a:prstGeom>
          <a:noFill/>
          <a:ln/>
        </p:spPr>
        <p:txBody>
          <a:bodyPr wrap="square" rtlCol="0" anchor="ctr"/>
          <a:lstStyle/>
          <a:p>
            <a:pPr marL="0" indent="0" algn="ctr">
              <a:buNone/>
            </a:pPr>
            <a:r>
              <a:rPr lang="en-US" sz="1600" b="1" dirty="0">
                <a:solidFill>
                  <a:srgbClr val="F2A65A"/>
                </a:solidFill>
                <a:latin typeface="Calibri" pitchFamily="34" charset="0"/>
                <a:ea typeface="Calibri" pitchFamily="34" charset="-122"/>
                <a:cs typeface="Calibri" pitchFamily="34" charset="-120"/>
              </a:rPr>
              <a:t>wa.me/51999039947</a:t>
            </a:r>
            <a:endParaRPr lang="en-US" sz="1600" dirty="0"/>
          </a:p>
        </p:txBody>
      </p:sp>
      <p:sp>
        <p:nvSpPr>
          <p:cNvPr id="9" name="Shape 7"/>
          <p:cNvSpPr/>
          <p:nvPr/>
        </p:nvSpPr>
        <p:spPr>
          <a:xfrm>
            <a:off x="4572000" y="3017520"/>
            <a:ext cx="3566160" cy="1371600"/>
          </a:xfrm>
          <a:prstGeom prst="roundRect">
            <a:avLst>
              <a:gd name="adj" fmla="val 8000"/>
            </a:avLst>
          </a:prstGeom>
          <a:solidFill>
            <a:srgbClr val="2B3468"/>
          </a:solidFill>
          <a:ln/>
        </p:spPr>
        <p:txBody>
          <a:bodyPr/>
          <a:lstStyle/>
          <a:p>
            <a:endParaRPr lang="es-PE"/>
          </a:p>
        </p:txBody>
      </p:sp>
      <p:sp>
        <p:nvSpPr>
          <p:cNvPr id="10" name="Text 8"/>
          <p:cNvSpPr/>
          <p:nvPr/>
        </p:nvSpPr>
        <p:spPr>
          <a:xfrm>
            <a:off x="4572000" y="3200400"/>
            <a:ext cx="3566160" cy="365760"/>
          </a:xfrm>
          <a:prstGeom prst="rect">
            <a:avLst/>
          </a:prstGeom>
          <a:noFill/>
          <a:ln/>
        </p:spPr>
        <p:txBody>
          <a:bodyPr wrap="square" rtlCol="0" anchor="ctr"/>
          <a:lstStyle/>
          <a:p>
            <a:pPr marL="0" indent="0" algn="ctr">
              <a:buNone/>
            </a:pPr>
            <a:r>
              <a:rPr lang="en-US" sz="1400" dirty="0">
                <a:solidFill>
                  <a:srgbClr val="9AA5B1"/>
                </a:solidFill>
                <a:latin typeface="Calibri" pitchFamily="34" charset="0"/>
                <a:ea typeface="Calibri" pitchFamily="34" charset="-122"/>
                <a:cs typeface="Calibri" pitchFamily="34" charset="-120"/>
              </a:rPr>
              <a:t>Correo</a:t>
            </a:r>
            <a:endParaRPr lang="en-US" sz="1400" dirty="0"/>
          </a:p>
        </p:txBody>
      </p:sp>
      <p:sp>
        <p:nvSpPr>
          <p:cNvPr id="11" name="Text 9"/>
          <p:cNvSpPr/>
          <p:nvPr/>
        </p:nvSpPr>
        <p:spPr>
          <a:xfrm>
            <a:off x="4572000" y="3566160"/>
            <a:ext cx="3566160" cy="548640"/>
          </a:xfrm>
          <a:prstGeom prst="rect">
            <a:avLst/>
          </a:prstGeom>
          <a:noFill/>
          <a:ln/>
        </p:spPr>
        <p:txBody>
          <a:bodyPr wrap="square" rtlCol="0" anchor="ctr"/>
          <a:lstStyle/>
          <a:p>
            <a:pPr marL="0" indent="0" algn="ctr">
              <a:buNone/>
            </a:pPr>
            <a:r>
              <a:rPr lang="en-US" sz="1600" b="1" dirty="0">
                <a:solidFill>
                  <a:srgbClr val="F2A65A"/>
                </a:solidFill>
                <a:latin typeface="Calibri" pitchFamily="34" charset="0"/>
                <a:ea typeface="Calibri" pitchFamily="34" charset="-122"/>
                <a:cs typeface="Calibri" pitchFamily="34" charset="-120"/>
              </a:rPr>
              <a:t>orasiclab@gmail.com</a:t>
            </a:r>
            <a:endParaRPr lang="en-US" sz="1600" dirty="0"/>
          </a:p>
        </p:txBody>
      </p:sp>
      <p:sp>
        <p:nvSpPr>
          <p:cNvPr id="12" name="Shape 10"/>
          <p:cNvSpPr/>
          <p:nvPr/>
        </p:nvSpPr>
        <p:spPr>
          <a:xfrm>
            <a:off x="8412480" y="3017520"/>
            <a:ext cx="3566160" cy="1371600"/>
          </a:xfrm>
          <a:prstGeom prst="roundRect">
            <a:avLst>
              <a:gd name="adj" fmla="val 8000"/>
            </a:avLst>
          </a:prstGeom>
          <a:solidFill>
            <a:srgbClr val="2B3468"/>
          </a:solidFill>
          <a:ln/>
        </p:spPr>
        <p:txBody>
          <a:bodyPr/>
          <a:lstStyle/>
          <a:p>
            <a:endParaRPr lang="es-PE"/>
          </a:p>
        </p:txBody>
      </p:sp>
      <p:sp>
        <p:nvSpPr>
          <p:cNvPr id="13" name="Text 11"/>
          <p:cNvSpPr/>
          <p:nvPr/>
        </p:nvSpPr>
        <p:spPr>
          <a:xfrm>
            <a:off x="8412480" y="3200400"/>
            <a:ext cx="3566160" cy="365760"/>
          </a:xfrm>
          <a:prstGeom prst="rect">
            <a:avLst/>
          </a:prstGeom>
          <a:noFill/>
          <a:ln/>
        </p:spPr>
        <p:txBody>
          <a:bodyPr wrap="square" rtlCol="0" anchor="ctr"/>
          <a:lstStyle/>
          <a:p>
            <a:pPr marL="0" indent="0" algn="ctr">
              <a:buNone/>
            </a:pPr>
            <a:r>
              <a:rPr lang="en-US" sz="1400" dirty="0">
                <a:solidFill>
                  <a:srgbClr val="9AA5B1"/>
                </a:solidFill>
                <a:latin typeface="Calibri" pitchFamily="34" charset="0"/>
                <a:ea typeface="Calibri" pitchFamily="34" charset="-122"/>
                <a:cs typeface="Calibri" pitchFamily="34" charset="-120"/>
              </a:rPr>
              <a:t>Portafolio</a:t>
            </a:r>
            <a:endParaRPr lang="en-US" sz="1400" dirty="0"/>
          </a:p>
        </p:txBody>
      </p:sp>
      <p:sp>
        <p:nvSpPr>
          <p:cNvPr id="14" name="Text 12"/>
          <p:cNvSpPr/>
          <p:nvPr/>
        </p:nvSpPr>
        <p:spPr>
          <a:xfrm>
            <a:off x="8412480" y="3566160"/>
            <a:ext cx="3566160" cy="548640"/>
          </a:xfrm>
          <a:prstGeom prst="rect">
            <a:avLst/>
          </a:prstGeom>
          <a:noFill/>
          <a:ln/>
        </p:spPr>
        <p:txBody>
          <a:bodyPr wrap="square" rtlCol="0" anchor="ctr"/>
          <a:lstStyle/>
          <a:p>
            <a:pPr marL="0" indent="0" algn="ctr">
              <a:buNone/>
            </a:pPr>
            <a:r>
              <a:rPr lang="en-US" sz="1600" b="1" dirty="0">
                <a:solidFill>
                  <a:srgbClr val="F2A65A"/>
                </a:solidFill>
                <a:latin typeface="Calibri" pitchFamily="34" charset="0"/>
                <a:ea typeface="Calibri" pitchFamily="34" charset="-122"/>
                <a:cs typeface="Calibri" pitchFamily="34" charset="-120"/>
              </a:rPr>
              <a:t>orasic-lab.vercel.app</a:t>
            </a:r>
            <a:endParaRPr lang="en-US" sz="1600" dirty="0"/>
          </a:p>
        </p:txBody>
      </p:sp>
      <p:sp>
        <p:nvSpPr>
          <p:cNvPr id="15" name="Text 13"/>
          <p:cNvSpPr/>
          <p:nvPr/>
        </p:nvSpPr>
        <p:spPr>
          <a:xfrm>
            <a:off x="11548872" y="6400800"/>
            <a:ext cx="457200" cy="320040"/>
          </a:xfrm>
          <a:prstGeom prst="rect">
            <a:avLst/>
          </a:prstGeom>
          <a:noFill/>
          <a:ln/>
        </p:spPr>
        <p:txBody>
          <a:bodyPr wrap="square" rtlCol="0" anchor="ctr"/>
          <a:lstStyle/>
          <a:p>
            <a:pPr marL="0" indent="0" algn="r">
              <a:buNone/>
            </a:pPr>
            <a:r>
              <a:rPr lang="en-US" sz="1100" dirty="0">
                <a:solidFill>
                  <a:srgbClr val="9AA5B1"/>
                </a:solidFill>
                <a:latin typeface="Calibri" pitchFamily="34" charset="0"/>
                <a:ea typeface="Calibri" pitchFamily="34" charset="-122"/>
                <a:cs typeface="Calibri"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NOTA FINAL</a:t>
            </a:r>
            <a:endParaRPr lang="en-US" sz="1300" dirty="0"/>
          </a:p>
        </p:txBody>
      </p:sp>
      <p:sp>
        <p:nvSpPr>
          <p:cNvPr id="3" name="Text 1"/>
          <p:cNvSpPr/>
          <p:nvPr/>
        </p:nvSpPr>
        <p:spPr>
          <a:xfrm>
            <a:off x="548640" y="822960"/>
            <a:ext cx="9144000" cy="640080"/>
          </a:xfrm>
          <a:prstGeom prst="rect">
            <a:avLst/>
          </a:prstGeom>
          <a:noFill/>
          <a:ln/>
        </p:spPr>
        <p:txBody>
          <a:bodyPr wrap="square" rtlCol="0" anchor="ctr"/>
          <a:lstStyle/>
          <a:p>
            <a:pPr marL="0" indent="0">
              <a:buNone/>
            </a:pPr>
            <a:r>
              <a:rPr lang="en-US" sz="2400" b="1" dirty="0">
                <a:solidFill>
                  <a:srgbClr val="1A1A2E"/>
                </a:solidFill>
                <a:latin typeface="Cambria" pitchFamily="34" charset="0"/>
                <a:ea typeface="Cambria" pitchFamily="34" charset="-122"/>
                <a:cs typeface="Cambria" pitchFamily="34" charset="-120"/>
              </a:rPr>
              <a:t>Pendiente antes de salir a campo</a:t>
            </a:r>
            <a:endParaRPr lang="en-US" sz="2400" dirty="0"/>
          </a:p>
        </p:txBody>
      </p:sp>
      <p:sp>
        <p:nvSpPr>
          <p:cNvPr id="4" name="Shape 2"/>
          <p:cNvSpPr/>
          <p:nvPr/>
        </p:nvSpPr>
        <p:spPr>
          <a:xfrm>
            <a:off x="548640" y="1737360"/>
            <a:ext cx="11064240" cy="2011680"/>
          </a:xfrm>
          <a:prstGeom prst="roundRect">
            <a:avLst>
              <a:gd name="adj" fmla="val 4545"/>
            </a:avLst>
          </a:prstGeom>
          <a:solidFill>
            <a:srgbClr val="FDF3E7"/>
          </a:solidFill>
          <a:ln w="12700">
            <a:solidFill>
              <a:srgbClr val="F2A65A"/>
            </a:solidFill>
            <a:prstDash val="solid"/>
          </a:ln>
        </p:spPr>
        <p:txBody>
          <a:bodyPr/>
          <a:lstStyle/>
          <a:p>
            <a:endParaRPr lang="es-PE"/>
          </a:p>
        </p:txBody>
      </p:sp>
      <p:sp>
        <p:nvSpPr>
          <p:cNvPr id="5" name="Text 3"/>
          <p:cNvSpPr/>
          <p:nvPr/>
        </p:nvSpPr>
        <p:spPr>
          <a:xfrm>
            <a:off x="822960" y="1965960"/>
            <a:ext cx="10515600" cy="914400"/>
          </a:xfrm>
          <a:prstGeom prst="rect">
            <a:avLst/>
          </a:prstGeom>
          <a:noFill/>
          <a:ln/>
        </p:spPr>
        <p:txBody>
          <a:bodyPr wrap="square" rtlCol="0" anchor="ctr"/>
          <a:lstStyle/>
          <a:p>
            <a:pPr marL="0" indent="0">
              <a:buNone/>
            </a:pPr>
            <a:r>
              <a:rPr lang="en-US" sz="1500" dirty="0">
                <a:solidFill>
                  <a:srgbClr val="1A1A2E"/>
                </a:solidFill>
                <a:latin typeface="Calibri" pitchFamily="34" charset="0"/>
                <a:ea typeface="Calibri" pitchFamily="34" charset="-122"/>
                <a:cs typeface="Calibri" pitchFamily="34" charset="-120"/>
              </a:rPr>
              <a:t>Este manual no incluye casos de éxito con nombre de cliente ni ejemplos reales de apps por rubro, porque esa información vive en el Inventario Maestro y no estaba disponible al redactar este documento.</a:t>
            </a:r>
            <a:endParaRPr lang="en-US" sz="1500" dirty="0"/>
          </a:p>
        </p:txBody>
      </p:sp>
      <p:sp>
        <p:nvSpPr>
          <p:cNvPr id="6" name="Text 4"/>
          <p:cNvSpPr/>
          <p:nvPr/>
        </p:nvSpPr>
        <p:spPr>
          <a:xfrm>
            <a:off x="822960" y="2834640"/>
            <a:ext cx="10515600" cy="731520"/>
          </a:xfrm>
          <a:prstGeom prst="rect">
            <a:avLst/>
          </a:prstGeom>
          <a:noFill/>
          <a:ln/>
        </p:spPr>
        <p:txBody>
          <a:bodyPr wrap="square" rtlCol="0" anchor="ctr"/>
          <a:lstStyle/>
          <a:p>
            <a:pPr marL="0" indent="0">
              <a:buNone/>
            </a:pPr>
            <a:r>
              <a:rPr lang="en-US" sz="1400" i="1" dirty="0">
                <a:solidFill>
                  <a:srgbClr val="5B6472"/>
                </a:solidFill>
                <a:latin typeface="Calibri" pitchFamily="34" charset="0"/>
                <a:ea typeface="Calibri" pitchFamily="34" charset="-122"/>
                <a:cs typeface="Calibri" pitchFamily="34" charset="-120"/>
              </a:rPr>
              <a:t>Se recomienda agregar 3-4 ejemplos reales (rubro + qué se construyó + resultado) antes de que el vendedor use este manual en campo.</a:t>
            </a:r>
            <a:endParaRPr lang="en-US" sz="1400" dirty="0"/>
          </a:p>
        </p:txBody>
      </p:sp>
      <p:sp>
        <p:nvSpPr>
          <p:cNvPr id="7" name="Text 5"/>
          <p:cNvSpPr/>
          <p:nvPr/>
        </p:nvSpPr>
        <p:spPr>
          <a:xfrm>
            <a:off x="11548872" y="6400800"/>
            <a:ext cx="457200" cy="320040"/>
          </a:xfrm>
          <a:prstGeom prst="rect">
            <a:avLst/>
          </a:prstGeom>
          <a:noFill/>
          <a:ln/>
        </p:spPr>
        <p:txBody>
          <a:bodyPr wrap="square" rtlCol="0" anchor="ctr"/>
          <a:lstStyle/>
          <a:p>
            <a:pPr marL="0" indent="0" algn="r">
              <a:buNone/>
            </a:pPr>
            <a:r>
              <a:rPr lang="en-US" sz="1100" dirty="0">
                <a:solidFill>
                  <a:srgbClr val="AAB4BE"/>
                </a:solidFill>
                <a:latin typeface="Calibri" pitchFamily="34" charset="0"/>
                <a:ea typeface="Calibri" pitchFamily="34" charset="-122"/>
                <a:cs typeface="Calibri" pitchFamily="34" charset="-120"/>
              </a:rPr>
              <a:t>19</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FE5BE1F-A05C-497E-A52B-F6723934877D}">
  <we:reference id="wa200010001" version="1.0.0.1" store="en-US" storeType="OMEX"/>
  <we:alternateReferences>
    <we:reference id="WA200010001" version="1.0.0.1"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TotalTime>
  <Words>1321</Words>
  <Application>Microsoft Office PowerPoint</Application>
  <PresentationFormat>Panorámica</PresentationFormat>
  <Paragraphs>175</Paragraphs>
  <Slides>19</Slides>
  <Notes>19</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19</vt:i4>
      </vt:variant>
    </vt:vector>
  </HeadingPairs>
  <TitlesOfParts>
    <vt:vector size="23" baseType="lpstr">
      <vt:lpstr>Arial</vt:lpstr>
      <vt:lpstr>Calibri</vt:lpstr>
      <vt:lpstr>Cambria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Fernando Perez</cp:lastModifiedBy>
  <cp:revision>1</cp:revision>
  <dcterms:created xsi:type="dcterms:W3CDTF">2026-07-27T03:07:42Z</dcterms:created>
  <dcterms:modified xsi:type="dcterms:W3CDTF">2026-08-14T22:19:17Z</dcterms:modified>
</cp:coreProperties>
</file>